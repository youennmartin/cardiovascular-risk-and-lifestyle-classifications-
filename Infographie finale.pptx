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
  </p:notesMasterIdLst>
  <p:sldIdLst>
    <p:sldId id="259" r:id="rId2"/>
    <p:sldId id="261" r:id="rId3"/>
    <p:sldId id="264" r:id="rId4"/>
    <p:sldId id="266" r:id="rId5"/>
  </p:sldIdLst>
  <p:sldSz cx="30240288" cy="4280376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C50D"/>
    <a:srgbClr val="EF8D4B"/>
    <a:srgbClr val="B22222"/>
    <a:srgbClr val="9ACD32"/>
    <a:srgbClr val="EAC2C3"/>
    <a:srgbClr val="718FC4"/>
    <a:srgbClr val="E5CB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64" autoAdjust="0"/>
    <p:restoredTop sz="93447" autoAdjust="0"/>
  </p:normalViewPr>
  <p:slideViewPr>
    <p:cSldViewPr snapToGrid="0">
      <p:cViewPr>
        <p:scale>
          <a:sx n="10" d="100"/>
          <a:sy n="10" d="100"/>
        </p:scale>
        <p:origin x="2392" y="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EF0353-5037-4346-A55B-208535603E5A}" type="datetimeFigureOut">
              <a:rPr lang="fr-FR" smtClean="0"/>
              <a:t>07/04/2026</a:t>
            </a:fld>
            <a:endParaRPr lang="fr-FR"/>
          </a:p>
        </p:txBody>
      </p:sp>
      <p:sp>
        <p:nvSpPr>
          <p:cNvPr id="4" name="Espace réservé de l'image des diapositives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F6B5C9-0AFD-48EF-B46B-BBAF42BAED92}" type="slidenum">
              <a:rPr lang="fr-FR" smtClean="0"/>
              <a:t>‹N°›</a:t>
            </a:fld>
            <a:endParaRPr lang="fr-FR"/>
          </a:p>
        </p:txBody>
      </p:sp>
    </p:spTree>
    <p:extLst>
      <p:ext uri="{BB962C8B-B14F-4D97-AF65-F5344CB8AC3E}">
        <p14:creationId xmlns:p14="http://schemas.microsoft.com/office/powerpoint/2010/main" val="2428711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3F6B5C9-0AFD-48EF-B46B-BBAF42BAED92}" type="slidenum">
              <a:rPr lang="fr-FR" smtClean="0"/>
              <a:t>3</a:t>
            </a:fld>
            <a:endParaRPr lang="fr-FR"/>
          </a:p>
        </p:txBody>
      </p:sp>
    </p:spTree>
    <p:extLst>
      <p:ext uri="{BB962C8B-B14F-4D97-AF65-F5344CB8AC3E}">
        <p14:creationId xmlns:p14="http://schemas.microsoft.com/office/powerpoint/2010/main" val="1998177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A96D9E-16CB-C8FE-D840-468FEFDF565C}"/>
              </a:ext>
            </a:extLst>
          </p:cNvPr>
          <p:cNvSpPr>
            <a:spLocks noGrp="1"/>
          </p:cNvSpPr>
          <p:nvPr>
            <p:ph type="ctrTitle"/>
          </p:nvPr>
        </p:nvSpPr>
        <p:spPr>
          <a:xfrm>
            <a:off x="3780036" y="7005156"/>
            <a:ext cx="22680216" cy="14902051"/>
          </a:xfrm>
        </p:spPr>
        <p:txBody>
          <a:bodyPr anchor="b"/>
          <a:lstStyle>
            <a:lvl1pPr algn="ctr">
              <a:defRPr sz="14882"/>
            </a:lvl1pPr>
          </a:lstStyle>
          <a:p>
            <a:r>
              <a:rPr lang="fr-FR"/>
              <a:t>Modifiez le style du titre</a:t>
            </a:r>
          </a:p>
        </p:txBody>
      </p:sp>
      <p:sp>
        <p:nvSpPr>
          <p:cNvPr id="3" name="Sous-titre 2">
            <a:extLst>
              <a:ext uri="{FF2B5EF4-FFF2-40B4-BE49-F238E27FC236}">
                <a16:creationId xmlns:a16="http://schemas.microsoft.com/office/drawing/2014/main" id="{68F56268-F610-FB7C-E1F3-1611408E6892}"/>
              </a:ext>
            </a:extLst>
          </p:cNvPr>
          <p:cNvSpPr>
            <a:spLocks noGrp="1"/>
          </p:cNvSpPr>
          <p:nvPr>
            <p:ph type="subTitle" idx="1"/>
          </p:nvPr>
        </p:nvSpPr>
        <p:spPr>
          <a:xfrm>
            <a:off x="3780036" y="22481887"/>
            <a:ext cx="22680216" cy="10334331"/>
          </a:xfrm>
        </p:spPr>
        <p:txBody>
          <a:bodyPr/>
          <a:lstStyle>
            <a:lvl1pPr marL="0" indent="0" algn="ctr">
              <a:buNone/>
              <a:defRPr sz="5953"/>
            </a:lvl1pPr>
            <a:lvl2pPr marL="1133993" indent="0" algn="ctr">
              <a:buNone/>
              <a:defRPr sz="4961"/>
            </a:lvl2pPr>
            <a:lvl3pPr marL="2267986" indent="0" algn="ctr">
              <a:buNone/>
              <a:defRPr sz="4465"/>
            </a:lvl3pPr>
            <a:lvl4pPr marL="3401979" indent="0" algn="ctr">
              <a:buNone/>
              <a:defRPr sz="3968"/>
            </a:lvl4pPr>
            <a:lvl5pPr marL="4535973" indent="0" algn="ctr">
              <a:buNone/>
              <a:defRPr sz="3968"/>
            </a:lvl5pPr>
            <a:lvl6pPr marL="5669966" indent="0" algn="ctr">
              <a:buNone/>
              <a:defRPr sz="3968"/>
            </a:lvl6pPr>
            <a:lvl7pPr marL="6803959" indent="0" algn="ctr">
              <a:buNone/>
              <a:defRPr sz="3968"/>
            </a:lvl7pPr>
            <a:lvl8pPr marL="7937952" indent="0" algn="ctr">
              <a:buNone/>
              <a:defRPr sz="3968"/>
            </a:lvl8pPr>
            <a:lvl9pPr marL="9071945" indent="0" algn="ctr">
              <a:buNone/>
              <a:defRPr sz="3968"/>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3DAA32B-7BEC-87CC-C178-042DE6361E01}"/>
              </a:ext>
            </a:extLst>
          </p:cNvPr>
          <p:cNvSpPr>
            <a:spLocks noGrp="1"/>
          </p:cNvSpPr>
          <p:nvPr>
            <p:ph type="dt" sz="half" idx="10"/>
          </p:nvPr>
        </p:nvSpPr>
        <p:spPr/>
        <p:txBody>
          <a:bodyPr/>
          <a:lstStyle/>
          <a:p>
            <a:fld id="{6A8A1918-7BD3-4532-905E-A5EF0A7237D5}" type="datetimeFigureOut">
              <a:rPr lang="fr-FR" smtClean="0"/>
              <a:t>07/04/2026</a:t>
            </a:fld>
            <a:endParaRPr lang="fr-FR"/>
          </a:p>
        </p:txBody>
      </p:sp>
      <p:sp>
        <p:nvSpPr>
          <p:cNvPr id="5" name="Espace réservé du pied de page 4">
            <a:extLst>
              <a:ext uri="{FF2B5EF4-FFF2-40B4-BE49-F238E27FC236}">
                <a16:creationId xmlns:a16="http://schemas.microsoft.com/office/drawing/2014/main" id="{FC0FDE3A-C7F3-AD43-9BF2-AC12373BE1A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DA19729-9736-107F-D4C2-6CA8FDD619C6}"/>
              </a:ext>
            </a:extLst>
          </p:cNvPr>
          <p:cNvSpPr>
            <a:spLocks noGrp="1"/>
          </p:cNvSpPr>
          <p:nvPr>
            <p:ph type="sldNum" sz="quarter" idx="12"/>
          </p:nvPr>
        </p:nvSpPr>
        <p:spPr/>
        <p:txBody>
          <a:bodyPr/>
          <a:lstStyle/>
          <a:p>
            <a:fld id="{C5882BE9-C92F-4AF9-9D36-A211B4169839}" type="slidenum">
              <a:rPr lang="fr-FR" smtClean="0"/>
              <a:t>‹N°›</a:t>
            </a:fld>
            <a:endParaRPr lang="fr-FR"/>
          </a:p>
        </p:txBody>
      </p:sp>
    </p:spTree>
    <p:extLst>
      <p:ext uri="{BB962C8B-B14F-4D97-AF65-F5344CB8AC3E}">
        <p14:creationId xmlns:p14="http://schemas.microsoft.com/office/powerpoint/2010/main" val="83221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4A033F-75DD-CB09-CE21-58A40FE90D9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2FFF83D-9631-4B04-C4B7-4FC6F5AFDD1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829E9F6-74C2-26CE-3D25-EA7CCB435953}"/>
              </a:ext>
            </a:extLst>
          </p:cNvPr>
          <p:cNvSpPr>
            <a:spLocks noGrp="1"/>
          </p:cNvSpPr>
          <p:nvPr>
            <p:ph type="dt" sz="half" idx="10"/>
          </p:nvPr>
        </p:nvSpPr>
        <p:spPr/>
        <p:txBody>
          <a:bodyPr/>
          <a:lstStyle/>
          <a:p>
            <a:fld id="{6A8A1918-7BD3-4532-905E-A5EF0A7237D5}" type="datetimeFigureOut">
              <a:rPr lang="fr-FR" smtClean="0"/>
              <a:t>07/04/2026</a:t>
            </a:fld>
            <a:endParaRPr lang="fr-FR"/>
          </a:p>
        </p:txBody>
      </p:sp>
      <p:sp>
        <p:nvSpPr>
          <p:cNvPr id="5" name="Espace réservé du pied de page 4">
            <a:extLst>
              <a:ext uri="{FF2B5EF4-FFF2-40B4-BE49-F238E27FC236}">
                <a16:creationId xmlns:a16="http://schemas.microsoft.com/office/drawing/2014/main" id="{040318D5-01C6-D48B-147C-35B3085BEBC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5389705-C58B-639D-E2AB-31FCAEA89C20}"/>
              </a:ext>
            </a:extLst>
          </p:cNvPr>
          <p:cNvSpPr>
            <a:spLocks noGrp="1"/>
          </p:cNvSpPr>
          <p:nvPr>
            <p:ph type="sldNum" sz="quarter" idx="12"/>
          </p:nvPr>
        </p:nvSpPr>
        <p:spPr/>
        <p:txBody>
          <a:bodyPr/>
          <a:lstStyle/>
          <a:p>
            <a:fld id="{C5882BE9-C92F-4AF9-9D36-A211B4169839}" type="slidenum">
              <a:rPr lang="fr-FR" smtClean="0"/>
              <a:t>‹N°›</a:t>
            </a:fld>
            <a:endParaRPr lang="fr-FR"/>
          </a:p>
        </p:txBody>
      </p:sp>
    </p:spTree>
    <p:extLst>
      <p:ext uri="{BB962C8B-B14F-4D97-AF65-F5344CB8AC3E}">
        <p14:creationId xmlns:p14="http://schemas.microsoft.com/office/powerpoint/2010/main" val="3416397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764EDA-423D-7921-3C22-0E4E37831B8E}"/>
              </a:ext>
            </a:extLst>
          </p:cNvPr>
          <p:cNvSpPr>
            <a:spLocks noGrp="1"/>
          </p:cNvSpPr>
          <p:nvPr>
            <p:ph type="title"/>
          </p:nvPr>
        </p:nvSpPr>
        <p:spPr>
          <a:xfrm>
            <a:off x="2063270" y="10671222"/>
            <a:ext cx="26082248" cy="17805173"/>
          </a:xfrm>
        </p:spPr>
        <p:txBody>
          <a:bodyPr anchor="b"/>
          <a:lstStyle>
            <a:lvl1pPr>
              <a:defRPr sz="14882"/>
            </a:lvl1pPr>
          </a:lstStyle>
          <a:p>
            <a:r>
              <a:rPr lang="fr-FR"/>
              <a:t>Modifiez le style du titre</a:t>
            </a:r>
          </a:p>
        </p:txBody>
      </p:sp>
      <p:sp>
        <p:nvSpPr>
          <p:cNvPr id="3" name="Espace réservé du texte 2">
            <a:extLst>
              <a:ext uri="{FF2B5EF4-FFF2-40B4-BE49-F238E27FC236}">
                <a16:creationId xmlns:a16="http://schemas.microsoft.com/office/drawing/2014/main" id="{AE58B1AA-7FA7-F8DB-D44F-52C56B876CAD}"/>
              </a:ext>
            </a:extLst>
          </p:cNvPr>
          <p:cNvSpPr>
            <a:spLocks noGrp="1"/>
          </p:cNvSpPr>
          <p:nvPr>
            <p:ph type="body" idx="1"/>
          </p:nvPr>
        </p:nvSpPr>
        <p:spPr>
          <a:xfrm>
            <a:off x="2063270" y="28644839"/>
            <a:ext cx="26082248" cy="9363320"/>
          </a:xfrm>
        </p:spPr>
        <p:txBody>
          <a:bodyPr/>
          <a:lstStyle>
            <a:lvl1pPr marL="0" indent="0">
              <a:buNone/>
              <a:defRPr sz="5953">
                <a:solidFill>
                  <a:schemeClr val="tx1">
                    <a:tint val="75000"/>
                  </a:schemeClr>
                </a:solidFill>
              </a:defRPr>
            </a:lvl1pPr>
            <a:lvl2pPr marL="1133993" indent="0">
              <a:buNone/>
              <a:defRPr sz="4961">
                <a:solidFill>
                  <a:schemeClr val="tx1">
                    <a:tint val="75000"/>
                  </a:schemeClr>
                </a:solidFill>
              </a:defRPr>
            </a:lvl2pPr>
            <a:lvl3pPr marL="2267986" indent="0">
              <a:buNone/>
              <a:defRPr sz="4465">
                <a:solidFill>
                  <a:schemeClr val="tx1">
                    <a:tint val="75000"/>
                  </a:schemeClr>
                </a:solidFill>
              </a:defRPr>
            </a:lvl3pPr>
            <a:lvl4pPr marL="3401979" indent="0">
              <a:buNone/>
              <a:defRPr sz="3968">
                <a:solidFill>
                  <a:schemeClr val="tx1">
                    <a:tint val="75000"/>
                  </a:schemeClr>
                </a:solidFill>
              </a:defRPr>
            </a:lvl4pPr>
            <a:lvl5pPr marL="4535973" indent="0">
              <a:buNone/>
              <a:defRPr sz="3968">
                <a:solidFill>
                  <a:schemeClr val="tx1">
                    <a:tint val="75000"/>
                  </a:schemeClr>
                </a:solidFill>
              </a:defRPr>
            </a:lvl5pPr>
            <a:lvl6pPr marL="5669966" indent="0">
              <a:buNone/>
              <a:defRPr sz="3968">
                <a:solidFill>
                  <a:schemeClr val="tx1">
                    <a:tint val="75000"/>
                  </a:schemeClr>
                </a:solidFill>
              </a:defRPr>
            </a:lvl6pPr>
            <a:lvl7pPr marL="6803959" indent="0">
              <a:buNone/>
              <a:defRPr sz="3968">
                <a:solidFill>
                  <a:schemeClr val="tx1">
                    <a:tint val="75000"/>
                  </a:schemeClr>
                </a:solidFill>
              </a:defRPr>
            </a:lvl7pPr>
            <a:lvl8pPr marL="7937952" indent="0">
              <a:buNone/>
              <a:defRPr sz="3968">
                <a:solidFill>
                  <a:schemeClr val="tx1">
                    <a:tint val="75000"/>
                  </a:schemeClr>
                </a:solidFill>
              </a:defRPr>
            </a:lvl8pPr>
            <a:lvl9pPr marL="9071945" indent="0">
              <a:buNone/>
              <a:defRPr sz="3968">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F8A0D15-7F2F-4C7E-41DE-C26CE607D044}"/>
              </a:ext>
            </a:extLst>
          </p:cNvPr>
          <p:cNvSpPr>
            <a:spLocks noGrp="1"/>
          </p:cNvSpPr>
          <p:nvPr>
            <p:ph type="dt" sz="half" idx="10"/>
          </p:nvPr>
        </p:nvSpPr>
        <p:spPr/>
        <p:txBody>
          <a:bodyPr/>
          <a:lstStyle/>
          <a:p>
            <a:fld id="{6A8A1918-7BD3-4532-905E-A5EF0A7237D5}" type="datetimeFigureOut">
              <a:rPr lang="fr-FR" smtClean="0"/>
              <a:t>07/04/2026</a:t>
            </a:fld>
            <a:endParaRPr lang="fr-FR"/>
          </a:p>
        </p:txBody>
      </p:sp>
      <p:sp>
        <p:nvSpPr>
          <p:cNvPr id="5" name="Espace réservé du pied de page 4">
            <a:extLst>
              <a:ext uri="{FF2B5EF4-FFF2-40B4-BE49-F238E27FC236}">
                <a16:creationId xmlns:a16="http://schemas.microsoft.com/office/drawing/2014/main" id="{B8446FC9-8FF1-C9F1-FB44-BA7BE373C31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5E83866-8562-AD2D-5229-CE720C484D07}"/>
              </a:ext>
            </a:extLst>
          </p:cNvPr>
          <p:cNvSpPr>
            <a:spLocks noGrp="1"/>
          </p:cNvSpPr>
          <p:nvPr>
            <p:ph type="sldNum" sz="quarter" idx="12"/>
          </p:nvPr>
        </p:nvSpPr>
        <p:spPr/>
        <p:txBody>
          <a:bodyPr/>
          <a:lstStyle/>
          <a:p>
            <a:fld id="{C5882BE9-C92F-4AF9-9D36-A211B4169839}" type="slidenum">
              <a:rPr lang="fr-FR" smtClean="0"/>
              <a:t>‹N°›</a:t>
            </a:fld>
            <a:endParaRPr lang="fr-FR"/>
          </a:p>
        </p:txBody>
      </p:sp>
    </p:spTree>
    <p:extLst>
      <p:ext uri="{BB962C8B-B14F-4D97-AF65-F5344CB8AC3E}">
        <p14:creationId xmlns:p14="http://schemas.microsoft.com/office/powerpoint/2010/main" val="1376714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3C3CA5-58A6-BEE7-9395-620CEBC7BE8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14642B8-4962-6D6A-80CC-264708B61B71}"/>
              </a:ext>
            </a:extLst>
          </p:cNvPr>
          <p:cNvSpPr>
            <a:spLocks noGrp="1"/>
          </p:cNvSpPr>
          <p:nvPr>
            <p:ph sz="half" idx="1"/>
          </p:nvPr>
        </p:nvSpPr>
        <p:spPr>
          <a:xfrm>
            <a:off x="2079020" y="11394520"/>
            <a:ext cx="12852122" cy="2715859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98BD96B-F189-1003-5A13-2DD71E4F3EF4}"/>
              </a:ext>
            </a:extLst>
          </p:cNvPr>
          <p:cNvSpPr>
            <a:spLocks noGrp="1"/>
          </p:cNvSpPr>
          <p:nvPr>
            <p:ph sz="half" idx="2"/>
          </p:nvPr>
        </p:nvSpPr>
        <p:spPr>
          <a:xfrm>
            <a:off x="15309146" y="11394520"/>
            <a:ext cx="12852122" cy="2715859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2E0D8C1-6DBC-9CD4-5C14-E8D9EE4F2DAF}"/>
              </a:ext>
            </a:extLst>
          </p:cNvPr>
          <p:cNvSpPr>
            <a:spLocks noGrp="1"/>
          </p:cNvSpPr>
          <p:nvPr>
            <p:ph type="dt" sz="half" idx="10"/>
          </p:nvPr>
        </p:nvSpPr>
        <p:spPr/>
        <p:txBody>
          <a:bodyPr/>
          <a:lstStyle/>
          <a:p>
            <a:fld id="{6A8A1918-7BD3-4532-905E-A5EF0A7237D5}" type="datetimeFigureOut">
              <a:rPr lang="fr-FR" smtClean="0"/>
              <a:t>07/04/2026</a:t>
            </a:fld>
            <a:endParaRPr lang="fr-FR"/>
          </a:p>
        </p:txBody>
      </p:sp>
      <p:sp>
        <p:nvSpPr>
          <p:cNvPr id="6" name="Espace réservé du pied de page 5">
            <a:extLst>
              <a:ext uri="{FF2B5EF4-FFF2-40B4-BE49-F238E27FC236}">
                <a16:creationId xmlns:a16="http://schemas.microsoft.com/office/drawing/2014/main" id="{CDEE62B4-5D4D-1BF8-B842-75506E64AE4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2D5EEDF-AEB9-97E3-70E2-040431801E3F}"/>
              </a:ext>
            </a:extLst>
          </p:cNvPr>
          <p:cNvSpPr>
            <a:spLocks noGrp="1"/>
          </p:cNvSpPr>
          <p:nvPr>
            <p:ph type="sldNum" sz="quarter" idx="12"/>
          </p:nvPr>
        </p:nvSpPr>
        <p:spPr/>
        <p:txBody>
          <a:bodyPr/>
          <a:lstStyle/>
          <a:p>
            <a:fld id="{C5882BE9-C92F-4AF9-9D36-A211B4169839}" type="slidenum">
              <a:rPr lang="fr-FR" smtClean="0"/>
              <a:t>‹N°›</a:t>
            </a:fld>
            <a:endParaRPr lang="fr-FR"/>
          </a:p>
        </p:txBody>
      </p:sp>
    </p:spTree>
    <p:extLst>
      <p:ext uri="{BB962C8B-B14F-4D97-AF65-F5344CB8AC3E}">
        <p14:creationId xmlns:p14="http://schemas.microsoft.com/office/powerpoint/2010/main" val="925757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703B3F-8C9E-BFEC-B642-90574CFFA578}"/>
              </a:ext>
            </a:extLst>
          </p:cNvPr>
          <p:cNvSpPr>
            <a:spLocks noGrp="1"/>
          </p:cNvSpPr>
          <p:nvPr>
            <p:ph type="title"/>
          </p:nvPr>
        </p:nvSpPr>
        <p:spPr>
          <a:xfrm>
            <a:off x="2082959" y="2278907"/>
            <a:ext cx="26082248" cy="8273416"/>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9340D69-3596-C37E-B44B-649C87B9A1B2}"/>
              </a:ext>
            </a:extLst>
          </p:cNvPr>
          <p:cNvSpPr>
            <a:spLocks noGrp="1"/>
          </p:cNvSpPr>
          <p:nvPr>
            <p:ph type="body" idx="1"/>
          </p:nvPr>
        </p:nvSpPr>
        <p:spPr>
          <a:xfrm>
            <a:off x="2082960" y="10492870"/>
            <a:ext cx="12793058" cy="5142393"/>
          </a:xfrm>
        </p:spPr>
        <p:txBody>
          <a:bodyPr anchor="b"/>
          <a:lstStyle>
            <a:lvl1pPr marL="0" indent="0">
              <a:buNone/>
              <a:defRPr sz="5953" b="1"/>
            </a:lvl1pPr>
            <a:lvl2pPr marL="1133993" indent="0">
              <a:buNone/>
              <a:defRPr sz="4961" b="1"/>
            </a:lvl2pPr>
            <a:lvl3pPr marL="2267986" indent="0">
              <a:buNone/>
              <a:defRPr sz="4465" b="1"/>
            </a:lvl3pPr>
            <a:lvl4pPr marL="3401979" indent="0">
              <a:buNone/>
              <a:defRPr sz="3968" b="1"/>
            </a:lvl4pPr>
            <a:lvl5pPr marL="4535973" indent="0">
              <a:buNone/>
              <a:defRPr sz="3968" b="1"/>
            </a:lvl5pPr>
            <a:lvl6pPr marL="5669966" indent="0">
              <a:buNone/>
              <a:defRPr sz="3968" b="1"/>
            </a:lvl6pPr>
            <a:lvl7pPr marL="6803959" indent="0">
              <a:buNone/>
              <a:defRPr sz="3968" b="1"/>
            </a:lvl7pPr>
            <a:lvl8pPr marL="7937952" indent="0">
              <a:buNone/>
              <a:defRPr sz="3968" b="1"/>
            </a:lvl8pPr>
            <a:lvl9pPr marL="9071945" indent="0">
              <a:buNone/>
              <a:defRPr sz="3968"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C976B74-E6C6-97DD-BB77-8EF50B3D5EBD}"/>
              </a:ext>
            </a:extLst>
          </p:cNvPr>
          <p:cNvSpPr>
            <a:spLocks noGrp="1"/>
          </p:cNvSpPr>
          <p:nvPr>
            <p:ph sz="half" idx="2"/>
          </p:nvPr>
        </p:nvSpPr>
        <p:spPr>
          <a:xfrm>
            <a:off x="2082960" y="15635264"/>
            <a:ext cx="12793058" cy="2299711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BA5F18B-C937-317B-14E0-8C52720151A0}"/>
              </a:ext>
            </a:extLst>
          </p:cNvPr>
          <p:cNvSpPr>
            <a:spLocks noGrp="1"/>
          </p:cNvSpPr>
          <p:nvPr>
            <p:ph type="body" sz="quarter" idx="3"/>
          </p:nvPr>
        </p:nvSpPr>
        <p:spPr>
          <a:xfrm>
            <a:off x="15309146" y="10492870"/>
            <a:ext cx="12856061" cy="5142393"/>
          </a:xfrm>
        </p:spPr>
        <p:txBody>
          <a:bodyPr anchor="b"/>
          <a:lstStyle>
            <a:lvl1pPr marL="0" indent="0">
              <a:buNone/>
              <a:defRPr sz="5953" b="1"/>
            </a:lvl1pPr>
            <a:lvl2pPr marL="1133993" indent="0">
              <a:buNone/>
              <a:defRPr sz="4961" b="1"/>
            </a:lvl2pPr>
            <a:lvl3pPr marL="2267986" indent="0">
              <a:buNone/>
              <a:defRPr sz="4465" b="1"/>
            </a:lvl3pPr>
            <a:lvl4pPr marL="3401979" indent="0">
              <a:buNone/>
              <a:defRPr sz="3968" b="1"/>
            </a:lvl4pPr>
            <a:lvl5pPr marL="4535973" indent="0">
              <a:buNone/>
              <a:defRPr sz="3968" b="1"/>
            </a:lvl5pPr>
            <a:lvl6pPr marL="5669966" indent="0">
              <a:buNone/>
              <a:defRPr sz="3968" b="1"/>
            </a:lvl6pPr>
            <a:lvl7pPr marL="6803959" indent="0">
              <a:buNone/>
              <a:defRPr sz="3968" b="1"/>
            </a:lvl7pPr>
            <a:lvl8pPr marL="7937952" indent="0">
              <a:buNone/>
              <a:defRPr sz="3968" b="1"/>
            </a:lvl8pPr>
            <a:lvl9pPr marL="9071945" indent="0">
              <a:buNone/>
              <a:defRPr sz="3968"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6C85E3C-D251-018F-7102-EAD3AE40B45B}"/>
              </a:ext>
            </a:extLst>
          </p:cNvPr>
          <p:cNvSpPr>
            <a:spLocks noGrp="1"/>
          </p:cNvSpPr>
          <p:nvPr>
            <p:ph sz="quarter" idx="4"/>
          </p:nvPr>
        </p:nvSpPr>
        <p:spPr>
          <a:xfrm>
            <a:off x="15309146" y="15635264"/>
            <a:ext cx="12856061" cy="2299711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4F55A93C-9914-8E7F-8690-1B3F68D75246}"/>
              </a:ext>
            </a:extLst>
          </p:cNvPr>
          <p:cNvSpPr>
            <a:spLocks noGrp="1"/>
          </p:cNvSpPr>
          <p:nvPr>
            <p:ph type="dt" sz="half" idx="10"/>
          </p:nvPr>
        </p:nvSpPr>
        <p:spPr/>
        <p:txBody>
          <a:bodyPr/>
          <a:lstStyle/>
          <a:p>
            <a:fld id="{6A8A1918-7BD3-4532-905E-A5EF0A7237D5}" type="datetimeFigureOut">
              <a:rPr lang="fr-FR" smtClean="0"/>
              <a:t>07/04/2026</a:t>
            </a:fld>
            <a:endParaRPr lang="fr-FR"/>
          </a:p>
        </p:txBody>
      </p:sp>
      <p:sp>
        <p:nvSpPr>
          <p:cNvPr id="8" name="Espace réservé du pied de page 7">
            <a:extLst>
              <a:ext uri="{FF2B5EF4-FFF2-40B4-BE49-F238E27FC236}">
                <a16:creationId xmlns:a16="http://schemas.microsoft.com/office/drawing/2014/main" id="{6808A82E-26E0-579B-4FC7-3F4A9FB803F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3A0F70D-62E7-E8D7-DBAD-AEC77F6A3F6A}"/>
              </a:ext>
            </a:extLst>
          </p:cNvPr>
          <p:cNvSpPr>
            <a:spLocks noGrp="1"/>
          </p:cNvSpPr>
          <p:nvPr>
            <p:ph type="sldNum" sz="quarter" idx="12"/>
          </p:nvPr>
        </p:nvSpPr>
        <p:spPr/>
        <p:txBody>
          <a:bodyPr/>
          <a:lstStyle/>
          <a:p>
            <a:fld id="{C5882BE9-C92F-4AF9-9D36-A211B4169839}" type="slidenum">
              <a:rPr lang="fr-FR" smtClean="0"/>
              <a:t>‹N°›</a:t>
            </a:fld>
            <a:endParaRPr lang="fr-FR"/>
          </a:p>
        </p:txBody>
      </p:sp>
    </p:spTree>
    <p:extLst>
      <p:ext uri="{BB962C8B-B14F-4D97-AF65-F5344CB8AC3E}">
        <p14:creationId xmlns:p14="http://schemas.microsoft.com/office/powerpoint/2010/main" val="3781115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54E9D-3A80-4541-5E4B-96940052B53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3C20255-BBA0-C3EE-9E44-FD15C2B3323C}"/>
              </a:ext>
            </a:extLst>
          </p:cNvPr>
          <p:cNvSpPr>
            <a:spLocks noGrp="1"/>
          </p:cNvSpPr>
          <p:nvPr>
            <p:ph type="dt" sz="half" idx="10"/>
          </p:nvPr>
        </p:nvSpPr>
        <p:spPr/>
        <p:txBody>
          <a:bodyPr/>
          <a:lstStyle/>
          <a:p>
            <a:fld id="{6A8A1918-7BD3-4532-905E-A5EF0A7237D5}" type="datetimeFigureOut">
              <a:rPr lang="fr-FR" smtClean="0"/>
              <a:t>07/04/2026</a:t>
            </a:fld>
            <a:endParaRPr lang="fr-FR"/>
          </a:p>
        </p:txBody>
      </p:sp>
      <p:sp>
        <p:nvSpPr>
          <p:cNvPr id="4" name="Espace réservé du pied de page 3">
            <a:extLst>
              <a:ext uri="{FF2B5EF4-FFF2-40B4-BE49-F238E27FC236}">
                <a16:creationId xmlns:a16="http://schemas.microsoft.com/office/drawing/2014/main" id="{61E1EBF5-18A5-9102-6730-397C5A9C114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8F36A8F-5CC9-EA55-DEEE-8B6F336451C0}"/>
              </a:ext>
            </a:extLst>
          </p:cNvPr>
          <p:cNvSpPr>
            <a:spLocks noGrp="1"/>
          </p:cNvSpPr>
          <p:nvPr>
            <p:ph type="sldNum" sz="quarter" idx="12"/>
          </p:nvPr>
        </p:nvSpPr>
        <p:spPr/>
        <p:txBody>
          <a:bodyPr/>
          <a:lstStyle/>
          <a:p>
            <a:fld id="{C5882BE9-C92F-4AF9-9D36-A211B4169839}" type="slidenum">
              <a:rPr lang="fr-FR" smtClean="0"/>
              <a:t>‹N°›</a:t>
            </a:fld>
            <a:endParaRPr lang="fr-FR"/>
          </a:p>
        </p:txBody>
      </p:sp>
    </p:spTree>
    <p:extLst>
      <p:ext uri="{BB962C8B-B14F-4D97-AF65-F5344CB8AC3E}">
        <p14:creationId xmlns:p14="http://schemas.microsoft.com/office/powerpoint/2010/main" val="4202416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8AEDF3D-2CF2-100F-6B05-79EB7CC3CE66}"/>
              </a:ext>
            </a:extLst>
          </p:cNvPr>
          <p:cNvSpPr>
            <a:spLocks noGrp="1"/>
          </p:cNvSpPr>
          <p:nvPr>
            <p:ph type="dt" sz="half" idx="10"/>
          </p:nvPr>
        </p:nvSpPr>
        <p:spPr/>
        <p:txBody>
          <a:bodyPr/>
          <a:lstStyle/>
          <a:p>
            <a:fld id="{6A8A1918-7BD3-4532-905E-A5EF0A7237D5}" type="datetimeFigureOut">
              <a:rPr lang="fr-FR" smtClean="0"/>
              <a:t>07/04/2026</a:t>
            </a:fld>
            <a:endParaRPr lang="fr-FR"/>
          </a:p>
        </p:txBody>
      </p:sp>
      <p:sp>
        <p:nvSpPr>
          <p:cNvPr id="3" name="Espace réservé du pied de page 2">
            <a:extLst>
              <a:ext uri="{FF2B5EF4-FFF2-40B4-BE49-F238E27FC236}">
                <a16:creationId xmlns:a16="http://schemas.microsoft.com/office/drawing/2014/main" id="{FA2A59E9-01D1-DC54-73FB-4BF738AE7ED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A977402-E00E-63DE-13AD-3F93E64A6E03}"/>
              </a:ext>
            </a:extLst>
          </p:cNvPr>
          <p:cNvSpPr>
            <a:spLocks noGrp="1"/>
          </p:cNvSpPr>
          <p:nvPr>
            <p:ph type="sldNum" sz="quarter" idx="12"/>
          </p:nvPr>
        </p:nvSpPr>
        <p:spPr/>
        <p:txBody>
          <a:bodyPr/>
          <a:lstStyle/>
          <a:p>
            <a:fld id="{C5882BE9-C92F-4AF9-9D36-A211B4169839}" type="slidenum">
              <a:rPr lang="fr-FR" smtClean="0"/>
              <a:t>‹N°›</a:t>
            </a:fld>
            <a:endParaRPr lang="fr-FR"/>
          </a:p>
        </p:txBody>
      </p:sp>
    </p:spTree>
    <p:extLst>
      <p:ext uri="{BB962C8B-B14F-4D97-AF65-F5344CB8AC3E}">
        <p14:creationId xmlns:p14="http://schemas.microsoft.com/office/powerpoint/2010/main" val="2833659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3EF78C-6150-BEDB-D9DB-06EA507464DE}"/>
              </a:ext>
            </a:extLst>
          </p:cNvPr>
          <p:cNvSpPr>
            <a:spLocks noGrp="1"/>
          </p:cNvSpPr>
          <p:nvPr>
            <p:ph type="title"/>
          </p:nvPr>
        </p:nvSpPr>
        <p:spPr>
          <a:xfrm>
            <a:off x="2082960" y="2853584"/>
            <a:ext cx="9753279" cy="9987545"/>
          </a:xfrm>
        </p:spPr>
        <p:txBody>
          <a:bodyPr anchor="b"/>
          <a:lstStyle>
            <a:lvl1pPr>
              <a:defRPr sz="7937"/>
            </a:lvl1pPr>
          </a:lstStyle>
          <a:p>
            <a:r>
              <a:rPr lang="fr-FR"/>
              <a:t>Modifiez le style du titre</a:t>
            </a:r>
          </a:p>
        </p:txBody>
      </p:sp>
      <p:sp>
        <p:nvSpPr>
          <p:cNvPr id="3" name="Espace réservé du contenu 2">
            <a:extLst>
              <a:ext uri="{FF2B5EF4-FFF2-40B4-BE49-F238E27FC236}">
                <a16:creationId xmlns:a16="http://schemas.microsoft.com/office/drawing/2014/main" id="{16F89779-7709-96E9-A882-CF37926FE970}"/>
              </a:ext>
            </a:extLst>
          </p:cNvPr>
          <p:cNvSpPr>
            <a:spLocks noGrp="1"/>
          </p:cNvSpPr>
          <p:nvPr>
            <p:ph idx="1"/>
          </p:nvPr>
        </p:nvSpPr>
        <p:spPr>
          <a:xfrm>
            <a:off x="12856061" y="6162952"/>
            <a:ext cx="15309146" cy="30418415"/>
          </a:xfrm>
        </p:spPr>
        <p:txBody>
          <a:bodyPr/>
          <a:lstStyle>
            <a:lvl1pPr>
              <a:defRPr sz="7937"/>
            </a:lvl1pPr>
            <a:lvl2pPr>
              <a:defRPr sz="6945"/>
            </a:lvl2pPr>
            <a:lvl3pPr>
              <a:defRPr sz="5953"/>
            </a:lvl3pPr>
            <a:lvl4pPr>
              <a:defRPr sz="4961"/>
            </a:lvl4pPr>
            <a:lvl5pPr>
              <a:defRPr sz="4961"/>
            </a:lvl5pPr>
            <a:lvl6pPr>
              <a:defRPr sz="4961"/>
            </a:lvl6pPr>
            <a:lvl7pPr>
              <a:defRPr sz="4961"/>
            </a:lvl7pPr>
            <a:lvl8pPr>
              <a:defRPr sz="4961"/>
            </a:lvl8pPr>
            <a:lvl9pPr>
              <a:defRPr sz="4961"/>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1F32F821-2AE7-DDFB-5452-FB9D536DA1E4}"/>
              </a:ext>
            </a:extLst>
          </p:cNvPr>
          <p:cNvSpPr>
            <a:spLocks noGrp="1"/>
          </p:cNvSpPr>
          <p:nvPr>
            <p:ph type="body" sz="half" idx="2"/>
          </p:nvPr>
        </p:nvSpPr>
        <p:spPr>
          <a:xfrm>
            <a:off x="2082960" y="12841129"/>
            <a:ext cx="9753279" cy="23789780"/>
          </a:xfrm>
        </p:spPr>
        <p:txBody>
          <a:bodyPr/>
          <a:lstStyle>
            <a:lvl1pPr marL="0" indent="0">
              <a:buNone/>
              <a:defRPr sz="3968"/>
            </a:lvl1pPr>
            <a:lvl2pPr marL="1133993" indent="0">
              <a:buNone/>
              <a:defRPr sz="3472"/>
            </a:lvl2pPr>
            <a:lvl3pPr marL="2267986" indent="0">
              <a:buNone/>
              <a:defRPr sz="2976"/>
            </a:lvl3pPr>
            <a:lvl4pPr marL="3401979" indent="0">
              <a:buNone/>
              <a:defRPr sz="2480"/>
            </a:lvl4pPr>
            <a:lvl5pPr marL="4535973" indent="0">
              <a:buNone/>
              <a:defRPr sz="2480"/>
            </a:lvl5pPr>
            <a:lvl6pPr marL="5669966" indent="0">
              <a:buNone/>
              <a:defRPr sz="2480"/>
            </a:lvl6pPr>
            <a:lvl7pPr marL="6803959" indent="0">
              <a:buNone/>
              <a:defRPr sz="2480"/>
            </a:lvl7pPr>
            <a:lvl8pPr marL="7937952" indent="0">
              <a:buNone/>
              <a:defRPr sz="2480"/>
            </a:lvl8pPr>
            <a:lvl9pPr marL="9071945" indent="0">
              <a:buNone/>
              <a:defRPr sz="248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97BC54C-D271-36EC-76D8-CF82783B5735}"/>
              </a:ext>
            </a:extLst>
          </p:cNvPr>
          <p:cNvSpPr>
            <a:spLocks noGrp="1"/>
          </p:cNvSpPr>
          <p:nvPr>
            <p:ph type="dt" sz="half" idx="10"/>
          </p:nvPr>
        </p:nvSpPr>
        <p:spPr/>
        <p:txBody>
          <a:bodyPr/>
          <a:lstStyle/>
          <a:p>
            <a:fld id="{6A8A1918-7BD3-4532-905E-A5EF0A7237D5}" type="datetimeFigureOut">
              <a:rPr lang="fr-FR" smtClean="0"/>
              <a:t>07/04/2026</a:t>
            </a:fld>
            <a:endParaRPr lang="fr-FR"/>
          </a:p>
        </p:txBody>
      </p:sp>
      <p:sp>
        <p:nvSpPr>
          <p:cNvPr id="6" name="Espace réservé du pied de page 5">
            <a:extLst>
              <a:ext uri="{FF2B5EF4-FFF2-40B4-BE49-F238E27FC236}">
                <a16:creationId xmlns:a16="http://schemas.microsoft.com/office/drawing/2014/main" id="{47B3E00F-73E3-20F5-F47F-553F80ABB0E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C596CC2-30F1-CF0A-E512-AC0FC1E1221E}"/>
              </a:ext>
            </a:extLst>
          </p:cNvPr>
          <p:cNvSpPr>
            <a:spLocks noGrp="1"/>
          </p:cNvSpPr>
          <p:nvPr>
            <p:ph type="sldNum" sz="quarter" idx="12"/>
          </p:nvPr>
        </p:nvSpPr>
        <p:spPr/>
        <p:txBody>
          <a:bodyPr/>
          <a:lstStyle/>
          <a:p>
            <a:fld id="{C5882BE9-C92F-4AF9-9D36-A211B4169839}" type="slidenum">
              <a:rPr lang="fr-FR" smtClean="0"/>
              <a:t>‹N°›</a:t>
            </a:fld>
            <a:endParaRPr lang="fr-FR"/>
          </a:p>
        </p:txBody>
      </p:sp>
    </p:spTree>
    <p:extLst>
      <p:ext uri="{BB962C8B-B14F-4D97-AF65-F5344CB8AC3E}">
        <p14:creationId xmlns:p14="http://schemas.microsoft.com/office/powerpoint/2010/main" val="775417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191E89-1B43-6DB4-58A4-276CF991D89E}"/>
              </a:ext>
            </a:extLst>
          </p:cNvPr>
          <p:cNvSpPr>
            <a:spLocks noGrp="1"/>
          </p:cNvSpPr>
          <p:nvPr>
            <p:ph type="title"/>
          </p:nvPr>
        </p:nvSpPr>
        <p:spPr>
          <a:xfrm>
            <a:off x="2082960" y="2853584"/>
            <a:ext cx="9753279" cy="9987545"/>
          </a:xfrm>
        </p:spPr>
        <p:txBody>
          <a:bodyPr anchor="b"/>
          <a:lstStyle>
            <a:lvl1pPr>
              <a:defRPr sz="7937"/>
            </a:lvl1pPr>
          </a:lstStyle>
          <a:p>
            <a:r>
              <a:rPr lang="fr-FR"/>
              <a:t>Modifiez le style du titre</a:t>
            </a:r>
          </a:p>
        </p:txBody>
      </p:sp>
      <p:sp>
        <p:nvSpPr>
          <p:cNvPr id="3" name="Espace réservé pour une image  2">
            <a:extLst>
              <a:ext uri="{FF2B5EF4-FFF2-40B4-BE49-F238E27FC236}">
                <a16:creationId xmlns:a16="http://schemas.microsoft.com/office/drawing/2014/main" id="{0EDDCDDA-1274-AC74-ED2E-C87624972164}"/>
              </a:ext>
            </a:extLst>
          </p:cNvPr>
          <p:cNvSpPr>
            <a:spLocks noGrp="1"/>
          </p:cNvSpPr>
          <p:nvPr>
            <p:ph type="pic" idx="1"/>
          </p:nvPr>
        </p:nvSpPr>
        <p:spPr>
          <a:xfrm>
            <a:off x="12856061" y="6162952"/>
            <a:ext cx="15309146" cy="30418415"/>
          </a:xfrm>
        </p:spPr>
        <p:txBody>
          <a:bodyPr/>
          <a:lstStyle>
            <a:lvl1pPr marL="0" indent="0">
              <a:buNone/>
              <a:defRPr sz="7937"/>
            </a:lvl1pPr>
            <a:lvl2pPr marL="1133993" indent="0">
              <a:buNone/>
              <a:defRPr sz="6945"/>
            </a:lvl2pPr>
            <a:lvl3pPr marL="2267986" indent="0">
              <a:buNone/>
              <a:defRPr sz="5953"/>
            </a:lvl3pPr>
            <a:lvl4pPr marL="3401979" indent="0">
              <a:buNone/>
              <a:defRPr sz="4961"/>
            </a:lvl4pPr>
            <a:lvl5pPr marL="4535973" indent="0">
              <a:buNone/>
              <a:defRPr sz="4961"/>
            </a:lvl5pPr>
            <a:lvl6pPr marL="5669966" indent="0">
              <a:buNone/>
              <a:defRPr sz="4961"/>
            </a:lvl6pPr>
            <a:lvl7pPr marL="6803959" indent="0">
              <a:buNone/>
              <a:defRPr sz="4961"/>
            </a:lvl7pPr>
            <a:lvl8pPr marL="7937952" indent="0">
              <a:buNone/>
              <a:defRPr sz="4961"/>
            </a:lvl8pPr>
            <a:lvl9pPr marL="9071945" indent="0">
              <a:buNone/>
              <a:defRPr sz="4961"/>
            </a:lvl9pPr>
          </a:lstStyle>
          <a:p>
            <a:endParaRPr lang="fr-FR"/>
          </a:p>
        </p:txBody>
      </p:sp>
      <p:sp>
        <p:nvSpPr>
          <p:cNvPr id="4" name="Espace réservé du texte 3">
            <a:extLst>
              <a:ext uri="{FF2B5EF4-FFF2-40B4-BE49-F238E27FC236}">
                <a16:creationId xmlns:a16="http://schemas.microsoft.com/office/drawing/2014/main" id="{61A2D1B0-AF73-0F1C-367F-58C7171357DE}"/>
              </a:ext>
            </a:extLst>
          </p:cNvPr>
          <p:cNvSpPr>
            <a:spLocks noGrp="1"/>
          </p:cNvSpPr>
          <p:nvPr>
            <p:ph type="body" sz="half" idx="2"/>
          </p:nvPr>
        </p:nvSpPr>
        <p:spPr>
          <a:xfrm>
            <a:off x="2082960" y="12841129"/>
            <a:ext cx="9753279" cy="23789780"/>
          </a:xfrm>
        </p:spPr>
        <p:txBody>
          <a:bodyPr/>
          <a:lstStyle>
            <a:lvl1pPr marL="0" indent="0">
              <a:buNone/>
              <a:defRPr sz="3968"/>
            </a:lvl1pPr>
            <a:lvl2pPr marL="1133993" indent="0">
              <a:buNone/>
              <a:defRPr sz="3472"/>
            </a:lvl2pPr>
            <a:lvl3pPr marL="2267986" indent="0">
              <a:buNone/>
              <a:defRPr sz="2976"/>
            </a:lvl3pPr>
            <a:lvl4pPr marL="3401979" indent="0">
              <a:buNone/>
              <a:defRPr sz="2480"/>
            </a:lvl4pPr>
            <a:lvl5pPr marL="4535973" indent="0">
              <a:buNone/>
              <a:defRPr sz="2480"/>
            </a:lvl5pPr>
            <a:lvl6pPr marL="5669966" indent="0">
              <a:buNone/>
              <a:defRPr sz="2480"/>
            </a:lvl6pPr>
            <a:lvl7pPr marL="6803959" indent="0">
              <a:buNone/>
              <a:defRPr sz="2480"/>
            </a:lvl7pPr>
            <a:lvl8pPr marL="7937952" indent="0">
              <a:buNone/>
              <a:defRPr sz="2480"/>
            </a:lvl8pPr>
            <a:lvl9pPr marL="9071945" indent="0">
              <a:buNone/>
              <a:defRPr sz="248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E56478E-C69F-70FD-E967-2DB0E1632B7C}"/>
              </a:ext>
            </a:extLst>
          </p:cNvPr>
          <p:cNvSpPr>
            <a:spLocks noGrp="1"/>
          </p:cNvSpPr>
          <p:nvPr>
            <p:ph type="dt" sz="half" idx="10"/>
          </p:nvPr>
        </p:nvSpPr>
        <p:spPr/>
        <p:txBody>
          <a:bodyPr/>
          <a:lstStyle/>
          <a:p>
            <a:fld id="{6A8A1918-7BD3-4532-905E-A5EF0A7237D5}" type="datetimeFigureOut">
              <a:rPr lang="fr-FR" smtClean="0"/>
              <a:t>07/04/2026</a:t>
            </a:fld>
            <a:endParaRPr lang="fr-FR"/>
          </a:p>
        </p:txBody>
      </p:sp>
      <p:sp>
        <p:nvSpPr>
          <p:cNvPr id="6" name="Espace réservé du pied de page 5">
            <a:extLst>
              <a:ext uri="{FF2B5EF4-FFF2-40B4-BE49-F238E27FC236}">
                <a16:creationId xmlns:a16="http://schemas.microsoft.com/office/drawing/2014/main" id="{1F683B1B-2CD2-49C4-0B2F-0542BB41F50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32378A3-BAA0-E7F3-D040-A2E03D43E04B}"/>
              </a:ext>
            </a:extLst>
          </p:cNvPr>
          <p:cNvSpPr>
            <a:spLocks noGrp="1"/>
          </p:cNvSpPr>
          <p:nvPr>
            <p:ph type="sldNum" sz="quarter" idx="12"/>
          </p:nvPr>
        </p:nvSpPr>
        <p:spPr/>
        <p:txBody>
          <a:bodyPr/>
          <a:lstStyle/>
          <a:p>
            <a:fld id="{C5882BE9-C92F-4AF9-9D36-A211B4169839}" type="slidenum">
              <a:rPr lang="fr-FR" smtClean="0"/>
              <a:t>‹N°›</a:t>
            </a:fld>
            <a:endParaRPr lang="fr-FR"/>
          </a:p>
        </p:txBody>
      </p:sp>
    </p:spTree>
    <p:extLst>
      <p:ext uri="{BB962C8B-B14F-4D97-AF65-F5344CB8AC3E}">
        <p14:creationId xmlns:p14="http://schemas.microsoft.com/office/powerpoint/2010/main" val="529773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547858-B8B4-BEC2-4F70-65900401267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95064C8-1056-6AAE-6139-B0E4543D61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9D505E4-9ED4-0F3A-E851-6608F690425A}"/>
              </a:ext>
            </a:extLst>
          </p:cNvPr>
          <p:cNvSpPr>
            <a:spLocks noGrp="1"/>
          </p:cNvSpPr>
          <p:nvPr>
            <p:ph type="dt" sz="half" idx="10"/>
          </p:nvPr>
        </p:nvSpPr>
        <p:spPr/>
        <p:txBody>
          <a:bodyPr/>
          <a:lstStyle/>
          <a:p>
            <a:fld id="{6A8A1918-7BD3-4532-905E-A5EF0A7237D5}" type="datetimeFigureOut">
              <a:rPr lang="fr-FR" smtClean="0"/>
              <a:t>07/04/2026</a:t>
            </a:fld>
            <a:endParaRPr lang="fr-FR"/>
          </a:p>
        </p:txBody>
      </p:sp>
      <p:sp>
        <p:nvSpPr>
          <p:cNvPr id="5" name="Espace réservé du pied de page 4">
            <a:extLst>
              <a:ext uri="{FF2B5EF4-FFF2-40B4-BE49-F238E27FC236}">
                <a16:creationId xmlns:a16="http://schemas.microsoft.com/office/drawing/2014/main" id="{5A16C396-1FB9-911E-A1C0-9E1A69B7191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676285B-5EAE-1313-45D3-5457A5ABCCD0}"/>
              </a:ext>
            </a:extLst>
          </p:cNvPr>
          <p:cNvSpPr>
            <a:spLocks noGrp="1"/>
          </p:cNvSpPr>
          <p:nvPr>
            <p:ph type="sldNum" sz="quarter" idx="12"/>
          </p:nvPr>
        </p:nvSpPr>
        <p:spPr/>
        <p:txBody>
          <a:bodyPr/>
          <a:lstStyle/>
          <a:p>
            <a:fld id="{C5882BE9-C92F-4AF9-9D36-A211B4169839}" type="slidenum">
              <a:rPr lang="fr-FR" smtClean="0"/>
              <a:t>‹N°›</a:t>
            </a:fld>
            <a:endParaRPr lang="fr-FR"/>
          </a:p>
        </p:txBody>
      </p:sp>
    </p:spTree>
    <p:extLst>
      <p:ext uri="{BB962C8B-B14F-4D97-AF65-F5344CB8AC3E}">
        <p14:creationId xmlns:p14="http://schemas.microsoft.com/office/powerpoint/2010/main" val="3777323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EE3C8F5-1E86-787F-D088-B457FB76EF4B}"/>
              </a:ext>
            </a:extLst>
          </p:cNvPr>
          <p:cNvSpPr>
            <a:spLocks noGrp="1"/>
          </p:cNvSpPr>
          <p:nvPr>
            <p:ph type="title" orient="vert"/>
          </p:nvPr>
        </p:nvSpPr>
        <p:spPr>
          <a:xfrm>
            <a:off x="21640706" y="2278904"/>
            <a:ext cx="6520562" cy="36274211"/>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D7C47F3-8A23-B3C8-8CD6-B666FC8F36C8}"/>
              </a:ext>
            </a:extLst>
          </p:cNvPr>
          <p:cNvSpPr>
            <a:spLocks noGrp="1"/>
          </p:cNvSpPr>
          <p:nvPr>
            <p:ph type="body" orient="vert" idx="1"/>
          </p:nvPr>
        </p:nvSpPr>
        <p:spPr>
          <a:xfrm>
            <a:off x="2079020" y="2278904"/>
            <a:ext cx="19183683" cy="3627421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C95FDF3-BE0F-01F0-6ACC-E7AAF3D3E6A5}"/>
              </a:ext>
            </a:extLst>
          </p:cNvPr>
          <p:cNvSpPr>
            <a:spLocks noGrp="1"/>
          </p:cNvSpPr>
          <p:nvPr>
            <p:ph type="dt" sz="half" idx="10"/>
          </p:nvPr>
        </p:nvSpPr>
        <p:spPr/>
        <p:txBody>
          <a:bodyPr/>
          <a:lstStyle/>
          <a:p>
            <a:fld id="{6A8A1918-7BD3-4532-905E-A5EF0A7237D5}" type="datetimeFigureOut">
              <a:rPr lang="fr-FR" smtClean="0"/>
              <a:t>07/04/2026</a:t>
            </a:fld>
            <a:endParaRPr lang="fr-FR"/>
          </a:p>
        </p:txBody>
      </p:sp>
      <p:sp>
        <p:nvSpPr>
          <p:cNvPr id="5" name="Espace réservé du pied de page 4">
            <a:extLst>
              <a:ext uri="{FF2B5EF4-FFF2-40B4-BE49-F238E27FC236}">
                <a16:creationId xmlns:a16="http://schemas.microsoft.com/office/drawing/2014/main" id="{4F17915C-63E9-6F97-B553-1A24AC93258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88CF5E2-0B33-2BF1-14E7-2A163153DB35}"/>
              </a:ext>
            </a:extLst>
          </p:cNvPr>
          <p:cNvSpPr>
            <a:spLocks noGrp="1"/>
          </p:cNvSpPr>
          <p:nvPr>
            <p:ph type="sldNum" sz="quarter" idx="12"/>
          </p:nvPr>
        </p:nvSpPr>
        <p:spPr/>
        <p:txBody>
          <a:bodyPr/>
          <a:lstStyle/>
          <a:p>
            <a:fld id="{C5882BE9-C92F-4AF9-9D36-A211B4169839}" type="slidenum">
              <a:rPr lang="fr-FR" smtClean="0"/>
              <a:t>‹N°›</a:t>
            </a:fld>
            <a:endParaRPr lang="fr-FR"/>
          </a:p>
        </p:txBody>
      </p:sp>
    </p:spTree>
    <p:extLst>
      <p:ext uri="{BB962C8B-B14F-4D97-AF65-F5344CB8AC3E}">
        <p14:creationId xmlns:p14="http://schemas.microsoft.com/office/powerpoint/2010/main" val="1850282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FD5A870-CB55-CEE9-518B-9F56705908D7}"/>
              </a:ext>
            </a:extLst>
          </p:cNvPr>
          <p:cNvSpPr>
            <a:spLocks noGrp="1"/>
          </p:cNvSpPr>
          <p:nvPr>
            <p:ph type="title"/>
          </p:nvPr>
        </p:nvSpPr>
        <p:spPr>
          <a:xfrm>
            <a:off x="2079020" y="2278907"/>
            <a:ext cx="26082248" cy="8273416"/>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739752B-0F52-7FF3-4115-8E8A74120F29}"/>
              </a:ext>
            </a:extLst>
          </p:cNvPr>
          <p:cNvSpPr>
            <a:spLocks noGrp="1"/>
          </p:cNvSpPr>
          <p:nvPr>
            <p:ph type="body" idx="1"/>
          </p:nvPr>
        </p:nvSpPr>
        <p:spPr>
          <a:xfrm>
            <a:off x="2079020" y="11394520"/>
            <a:ext cx="26082248" cy="2715859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A7A6F55-9C2F-C5F2-D980-E97DB4654C04}"/>
              </a:ext>
            </a:extLst>
          </p:cNvPr>
          <p:cNvSpPr>
            <a:spLocks noGrp="1"/>
          </p:cNvSpPr>
          <p:nvPr>
            <p:ph type="dt" sz="half" idx="2"/>
          </p:nvPr>
        </p:nvSpPr>
        <p:spPr>
          <a:xfrm>
            <a:off x="2079020" y="39672750"/>
            <a:ext cx="6804065" cy="2278904"/>
          </a:xfrm>
          <a:prstGeom prst="rect">
            <a:avLst/>
          </a:prstGeom>
        </p:spPr>
        <p:txBody>
          <a:bodyPr vert="horz" lIns="91440" tIns="45720" rIns="91440" bIns="45720" rtlCol="0" anchor="ctr"/>
          <a:lstStyle>
            <a:lvl1pPr algn="l">
              <a:defRPr sz="2976">
                <a:solidFill>
                  <a:schemeClr val="tx1">
                    <a:tint val="75000"/>
                  </a:schemeClr>
                </a:solidFill>
              </a:defRPr>
            </a:lvl1pPr>
          </a:lstStyle>
          <a:p>
            <a:fld id="{6A8A1918-7BD3-4532-905E-A5EF0A7237D5}" type="datetimeFigureOut">
              <a:rPr lang="fr-FR" smtClean="0"/>
              <a:t>07/04/2026</a:t>
            </a:fld>
            <a:endParaRPr lang="fr-FR"/>
          </a:p>
        </p:txBody>
      </p:sp>
      <p:sp>
        <p:nvSpPr>
          <p:cNvPr id="5" name="Espace réservé du pied de page 4">
            <a:extLst>
              <a:ext uri="{FF2B5EF4-FFF2-40B4-BE49-F238E27FC236}">
                <a16:creationId xmlns:a16="http://schemas.microsoft.com/office/drawing/2014/main" id="{BA52E0D7-39DC-9B23-58C8-30B048C328C5}"/>
              </a:ext>
            </a:extLst>
          </p:cNvPr>
          <p:cNvSpPr>
            <a:spLocks noGrp="1"/>
          </p:cNvSpPr>
          <p:nvPr>
            <p:ph type="ftr" sz="quarter" idx="3"/>
          </p:nvPr>
        </p:nvSpPr>
        <p:spPr>
          <a:xfrm>
            <a:off x="10017096" y="39672750"/>
            <a:ext cx="10206097" cy="2278904"/>
          </a:xfrm>
          <a:prstGeom prst="rect">
            <a:avLst/>
          </a:prstGeom>
        </p:spPr>
        <p:txBody>
          <a:bodyPr vert="horz" lIns="91440" tIns="45720" rIns="91440" bIns="45720" rtlCol="0" anchor="ctr"/>
          <a:lstStyle>
            <a:lvl1pPr algn="ctr">
              <a:defRPr sz="2976">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6DD5D84B-C1D0-F0CA-9E24-88CDA40AA478}"/>
              </a:ext>
            </a:extLst>
          </p:cNvPr>
          <p:cNvSpPr>
            <a:spLocks noGrp="1"/>
          </p:cNvSpPr>
          <p:nvPr>
            <p:ph type="sldNum" sz="quarter" idx="4"/>
          </p:nvPr>
        </p:nvSpPr>
        <p:spPr>
          <a:xfrm>
            <a:off x="21357203" y="39672750"/>
            <a:ext cx="6804065" cy="2278904"/>
          </a:xfrm>
          <a:prstGeom prst="rect">
            <a:avLst/>
          </a:prstGeom>
        </p:spPr>
        <p:txBody>
          <a:bodyPr vert="horz" lIns="91440" tIns="45720" rIns="91440" bIns="45720" rtlCol="0" anchor="ctr"/>
          <a:lstStyle>
            <a:lvl1pPr algn="r">
              <a:defRPr sz="2976">
                <a:solidFill>
                  <a:schemeClr val="tx1">
                    <a:tint val="75000"/>
                  </a:schemeClr>
                </a:solidFill>
              </a:defRPr>
            </a:lvl1pPr>
          </a:lstStyle>
          <a:p>
            <a:fld id="{C5882BE9-C92F-4AF9-9D36-A211B4169839}" type="slidenum">
              <a:rPr lang="fr-FR" smtClean="0"/>
              <a:t>‹N°›</a:t>
            </a:fld>
            <a:endParaRPr lang="fr-FR"/>
          </a:p>
        </p:txBody>
      </p:sp>
    </p:spTree>
    <p:extLst>
      <p:ext uri="{BB962C8B-B14F-4D97-AF65-F5344CB8AC3E}">
        <p14:creationId xmlns:p14="http://schemas.microsoft.com/office/powerpoint/2010/main" val="323344603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2267986" rtl="0" eaLnBrk="1" latinLnBrk="0" hangingPunct="1">
        <a:lnSpc>
          <a:spcPct val="90000"/>
        </a:lnSpc>
        <a:spcBef>
          <a:spcPct val="0"/>
        </a:spcBef>
        <a:buNone/>
        <a:defRPr sz="10913" kern="1200">
          <a:solidFill>
            <a:schemeClr val="tx1"/>
          </a:solidFill>
          <a:latin typeface="+mj-lt"/>
          <a:ea typeface="+mj-ea"/>
          <a:cs typeface="+mj-cs"/>
        </a:defRPr>
      </a:lvl1pPr>
    </p:titleStyle>
    <p:bodyStyle>
      <a:lvl1pPr marL="566997" indent="-566997" algn="l" defTabSz="2267986" rtl="0" eaLnBrk="1" latinLnBrk="0" hangingPunct="1">
        <a:lnSpc>
          <a:spcPct val="90000"/>
        </a:lnSpc>
        <a:spcBef>
          <a:spcPts val="2480"/>
        </a:spcBef>
        <a:buFont typeface="Arial" panose="020B0604020202020204" pitchFamily="34" charset="0"/>
        <a:buChar char="•"/>
        <a:defRPr sz="6945" kern="1200">
          <a:solidFill>
            <a:schemeClr val="tx1"/>
          </a:solidFill>
          <a:latin typeface="+mn-lt"/>
          <a:ea typeface="+mn-ea"/>
          <a:cs typeface="+mn-cs"/>
        </a:defRPr>
      </a:lvl1pPr>
      <a:lvl2pPr marL="1700990" indent="-566997" algn="l" defTabSz="2267986" rtl="0" eaLnBrk="1" latinLnBrk="0" hangingPunct="1">
        <a:lnSpc>
          <a:spcPct val="90000"/>
        </a:lnSpc>
        <a:spcBef>
          <a:spcPts val="1240"/>
        </a:spcBef>
        <a:buFont typeface="Arial" panose="020B0604020202020204" pitchFamily="34" charset="0"/>
        <a:buChar char="•"/>
        <a:defRPr sz="5953" kern="1200">
          <a:solidFill>
            <a:schemeClr val="tx1"/>
          </a:solidFill>
          <a:latin typeface="+mn-lt"/>
          <a:ea typeface="+mn-ea"/>
          <a:cs typeface="+mn-cs"/>
        </a:defRPr>
      </a:lvl2pPr>
      <a:lvl3pPr marL="2834983" indent="-566997" algn="l" defTabSz="2267986" rtl="0" eaLnBrk="1" latinLnBrk="0" hangingPunct="1">
        <a:lnSpc>
          <a:spcPct val="90000"/>
        </a:lnSpc>
        <a:spcBef>
          <a:spcPts val="1240"/>
        </a:spcBef>
        <a:buFont typeface="Arial" panose="020B0604020202020204" pitchFamily="34" charset="0"/>
        <a:buChar char="•"/>
        <a:defRPr sz="4961" kern="1200">
          <a:solidFill>
            <a:schemeClr val="tx1"/>
          </a:solidFill>
          <a:latin typeface="+mn-lt"/>
          <a:ea typeface="+mn-ea"/>
          <a:cs typeface="+mn-cs"/>
        </a:defRPr>
      </a:lvl3pPr>
      <a:lvl4pPr marL="3968976" indent="-566997" algn="l" defTabSz="2267986" rtl="0" eaLnBrk="1" latinLnBrk="0" hangingPunct="1">
        <a:lnSpc>
          <a:spcPct val="90000"/>
        </a:lnSpc>
        <a:spcBef>
          <a:spcPts val="1240"/>
        </a:spcBef>
        <a:buFont typeface="Arial" panose="020B0604020202020204" pitchFamily="34" charset="0"/>
        <a:buChar char="•"/>
        <a:defRPr sz="4465" kern="1200">
          <a:solidFill>
            <a:schemeClr val="tx1"/>
          </a:solidFill>
          <a:latin typeface="+mn-lt"/>
          <a:ea typeface="+mn-ea"/>
          <a:cs typeface="+mn-cs"/>
        </a:defRPr>
      </a:lvl4pPr>
      <a:lvl5pPr marL="5102969" indent="-566997" algn="l" defTabSz="2267986" rtl="0" eaLnBrk="1" latinLnBrk="0" hangingPunct="1">
        <a:lnSpc>
          <a:spcPct val="90000"/>
        </a:lnSpc>
        <a:spcBef>
          <a:spcPts val="1240"/>
        </a:spcBef>
        <a:buFont typeface="Arial" panose="020B0604020202020204" pitchFamily="34" charset="0"/>
        <a:buChar char="•"/>
        <a:defRPr sz="4465" kern="1200">
          <a:solidFill>
            <a:schemeClr val="tx1"/>
          </a:solidFill>
          <a:latin typeface="+mn-lt"/>
          <a:ea typeface="+mn-ea"/>
          <a:cs typeface="+mn-cs"/>
        </a:defRPr>
      </a:lvl5pPr>
      <a:lvl6pPr marL="6236962" indent="-566997" algn="l" defTabSz="2267986" rtl="0" eaLnBrk="1" latinLnBrk="0" hangingPunct="1">
        <a:lnSpc>
          <a:spcPct val="90000"/>
        </a:lnSpc>
        <a:spcBef>
          <a:spcPts val="1240"/>
        </a:spcBef>
        <a:buFont typeface="Arial" panose="020B0604020202020204" pitchFamily="34" charset="0"/>
        <a:buChar char="•"/>
        <a:defRPr sz="4465" kern="1200">
          <a:solidFill>
            <a:schemeClr val="tx1"/>
          </a:solidFill>
          <a:latin typeface="+mn-lt"/>
          <a:ea typeface="+mn-ea"/>
          <a:cs typeface="+mn-cs"/>
        </a:defRPr>
      </a:lvl6pPr>
      <a:lvl7pPr marL="7370956" indent="-566997" algn="l" defTabSz="2267986" rtl="0" eaLnBrk="1" latinLnBrk="0" hangingPunct="1">
        <a:lnSpc>
          <a:spcPct val="90000"/>
        </a:lnSpc>
        <a:spcBef>
          <a:spcPts val="1240"/>
        </a:spcBef>
        <a:buFont typeface="Arial" panose="020B0604020202020204" pitchFamily="34" charset="0"/>
        <a:buChar char="•"/>
        <a:defRPr sz="4465" kern="1200">
          <a:solidFill>
            <a:schemeClr val="tx1"/>
          </a:solidFill>
          <a:latin typeface="+mn-lt"/>
          <a:ea typeface="+mn-ea"/>
          <a:cs typeface="+mn-cs"/>
        </a:defRPr>
      </a:lvl7pPr>
      <a:lvl8pPr marL="8504949" indent="-566997" algn="l" defTabSz="2267986" rtl="0" eaLnBrk="1" latinLnBrk="0" hangingPunct="1">
        <a:lnSpc>
          <a:spcPct val="90000"/>
        </a:lnSpc>
        <a:spcBef>
          <a:spcPts val="1240"/>
        </a:spcBef>
        <a:buFont typeface="Arial" panose="020B0604020202020204" pitchFamily="34" charset="0"/>
        <a:buChar char="•"/>
        <a:defRPr sz="4465" kern="1200">
          <a:solidFill>
            <a:schemeClr val="tx1"/>
          </a:solidFill>
          <a:latin typeface="+mn-lt"/>
          <a:ea typeface="+mn-ea"/>
          <a:cs typeface="+mn-cs"/>
        </a:defRPr>
      </a:lvl8pPr>
      <a:lvl9pPr marL="9638942" indent="-566997" algn="l" defTabSz="2267986" rtl="0" eaLnBrk="1" latinLnBrk="0" hangingPunct="1">
        <a:lnSpc>
          <a:spcPct val="90000"/>
        </a:lnSpc>
        <a:spcBef>
          <a:spcPts val="1240"/>
        </a:spcBef>
        <a:buFont typeface="Arial" panose="020B0604020202020204" pitchFamily="34" charset="0"/>
        <a:buChar char="•"/>
        <a:defRPr sz="4465" kern="1200">
          <a:solidFill>
            <a:schemeClr val="tx1"/>
          </a:solidFill>
          <a:latin typeface="+mn-lt"/>
          <a:ea typeface="+mn-ea"/>
          <a:cs typeface="+mn-cs"/>
        </a:defRPr>
      </a:lvl9pPr>
    </p:bodyStyle>
    <p:otherStyle>
      <a:defPPr>
        <a:defRPr lang="fr-FR"/>
      </a:defPPr>
      <a:lvl1pPr marL="0" algn="l" defTabSz="2267986" rtl="0" eaLnBrk="1" latinLnBrk="0" hangingPunct="1">
        <a:defRPr sz="4465" kern="1200">
          <a:solidFill>
            <a:schemeClr val="tx1"/>
          </a:solidFill>
          <a:latin typeface="+mn-lt"/>
          <a:ea typeface="+mn-ea"/>
          <a:cs typeface="+mn-cs"/>
        </a:defRPr>
      </a:lvl1pPr>
      <a:lvl2pPr marL="1133993" algn="l" defTabSz="2267986" rtl="0" eaLnBrk="1" latinLnBrk="0" hangingPunct="1">
        <a:defRPr sz="4465" kern="1200">
          <a:solidFill>
            <a:schemeClr val="tx1"/>
          </a:solidFill>
          <a:latin typeface="+mn-lt"/>
          <a:ea typeface="+mn-ea"/>
          <a:cs typeface="+mn-cs"/>
        </a:defRPr>
      </a:lvl2pPr>
      <a:lvl3pPr marL="2267986" algn="l" defTabSz="2267986" rtl="0" eaLnBrk="1" latinLnBrk="0" hangingPunct="1">
        <a:defRPr sz="4465" kern="1200">
          <a:solidFill>
            <a:schemeClr val="tx1"/>
          </a:solidFill>
          <a:latin typeface="+mn-lt"/>
          <a:ea typeface="+mn-ea"/>
          <a:cs typeface="+mn-cs"/>
        </a:defRPr>
      </a:lvl3pPr>
      <a:lvl4pPr marL="3401979" algn="l" defTabSz="2267986" rtl="0" eaLnBrk="1" latinLnBrk="0" hangingPunct="1">
        <a:defRPr sz="4465" kern="1200">
          <a:solidFill>
            <a:schemeClr val="tx1"/>
          </a:solidFill>
          <a:latin typeface="+mn-lt"/>
          <a:ea typeface="+mn-ea"/>
          <a:cs typeface="+mn-cs"/>
        </a:defRPr>
      </a:lvl4pPr>
      <a:lvl5pPr marL="4535973" algn="l" defTabSz="2267986" rtl="0" eaLnBrk="1" latinLnBrk="0" hangingPunct="1">
        <a:defRPr sz="4465" kern="1200">
          <a:solidFill>
            <a:schemeClr val="tx1"/>
          </a:solidFill>
          <a:latin typeface="+mn-lt"/>
          <a:ea typeface="+mn-ea"/>
          <a:cs typeface="+mn-cs"/>
        </a:defRPr>
      </a:lvl5pPr>
      <a:lvl6pPr marL="5669966" algn="l" defTabSz="2267986" rtl="0" eaLnBrk="1" latinLnBrk="0" hangingPunct="1">
        <a:defRPr sz="4465" kern="1200">
          <a:solidFill>
            <a:schemeClr val="tx1"/>
          </a:solidFill>
          <a:latin typeface="+mn-lt"/>
          <a:ea typeface="+mn-ea"/>
          <a:cs typeface="+mn-cs"/>
        </a:defRPr>
      </a:lvl6pPr>
      <a:lvl7pPr marL="6803959" algn="l" defTabSz="2267986" rtl="0" eaLnBrk="1" latinLnBrk="0" hangingPunct="1">
        <a:defRPr sz="4465" kern="1200">
          <a:solidFill>
            <a:schemeClr val="tx1"/>
          </a:solidFill>
          <a:latin typeface="+mn-lt"/>
          <a:ea typeface="+mn-ea"/>
          <a:cs typeface="+mn-cs"/>
        </a:defRPr>
      </a:lvl7pPr>
      <a:lvl8pPr marL="7937952" algn="l" defTabSz="2267986" rtl="0" eaLnBrk="1" latinLnBrk="0" hangingPunct="1">
        <a:defRPr sz="4465" kern="1200">
          <a:solidFill>
            <a:schemeClr val="tx1"/>
          </a:solidFill>
          <a:latin typeface="+mn-lt"/>
          <a:ea typeface="+mn-ea"/>
          <a:cs typeface="+mn-cs"/>
        </a:defRPr>
      </a:lvl8pPr>
      <a:lvl9pPr marL="9071945" algn="l" defTabSz="2267986" rtl="0" eaLnBrk="1" latinLnBrk="0" hangingPunct="1">
        <a:defRPr sz="44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5D425-DFFF-0380-6722-16B929958E65}"/>
            </a:ext>
          </a:extLst>
        </p:cNvPr>
        <p:cNvGrpSpPr/>
        <p:nvPr/>
      </p:nvGrpSpPr>
      <p:grpSpPr>
        <a:xfrm>
          <a:off x="0" y="0"/>
          <a:ext cx="0" cy="0"/>
          <a:chOff x="0" y="0"/>
          <a:chExt cx="0" cy="0"/>
        </a:xfrm>
      </p:grpSpPr>
      <p:sp>
        <p:nvSpPr>
          <p:cNvPr id="10" name="ZoneTexte 9">
            <a:extLst>
              <a:ext uri="{FF2B5EF4-FFF2-40B4-BE49-F238E27FC236}">
                <a16:creationId xmlns:a16="http://schemas.microsoft.com/office/drawing/2014/main" id="{999A3CA2-42FD-58C2-FBCA-DA35B7210B41}"/>
              </a:ext>
            </a:extLst>
          </p:cNvPr>
          <p:cNvSpPr txBox="1"/>
          <p:nvPr/>
        </p:nvSpPr>
        <p:spPr>
          <a:xfrm>
            <a:off x="630766" y="3908398"/>
            <a:ext cx="28930600" cy="5262979"/>
          </a:xfrm>
          <a:prstGeom prst="rect">
            <a:avLst/>
          </a:prstGeom>
          <a:noFill/>
        </p:spPr>
        <p:txBody>
          <a:bodyPr wrap="square" rtlCol="0">
            <a:spAutoFit/>
          </a:bodyPr>
          <a:lstStyle/>
          <a:p>
            <a:pPr algn="just"/>
            <a:r>
              <a:rPr lang="fr-FR" sz="4800" dirty="0">
                <a:latin typeface="Brix Slab Light" panose="02000000000000000000" pitchFamily="50" charset="0"/>
              </a:rPr>
              <a:t>Le rôle des facteurs comportementaux dans le développement des maladies cardiovasculaires n’est plus à démontrer : tabagisme, alimentation, activité physique, consommation d’alcool ou encore qualité du sommeil constituent autant de déterminants majeurs, dont les effets se cumulent, interagissent et modulent notre santé cardiovasculaire, laquelle peut être quantifiée à partir de marqueurs biologiques. </a:t>
            </a:r>
          </a:p>
          <a:p>
            <a:pPr algn="just"/>
            <a:r>
              <a:rPr lang="fr-FR" sz="4800" dirty="0">
                <a:latin typeface="Brix Slab Light" panose="02000000000000000000" pitchFamily="50" charset="0"/>
              </a:rPr>
              <a:t>Dans ce contexte, le mode de vie apparaît comme un levier central de prévention, permettant d’agir concrètement sur le niveau de risque cardiovasculaire des individus. L’objectif de cette étude est donc d’évaluer ce risque et de montrer comment les habitudes de vie influencent le profil cardiovasculaire des individus. </a:t>
            </a:r>
          </a:p>
        </p:txBody>
      </p:sp>
      <p:pic>
        <p:nvPicPr>
          <p:cNvPr id="6" name="Image 5">
            <a:extLst>
              <a:ext uri="{FF2B5EF4-FFF2-40B4-BE49-F238E27FC236}">
                <a16:creationId xmlns:a16="http://schemas.microsoft.com/office/drawing/2014/main" id="{39BD96AA-1EAF-9F04-D039-0CBAC090625D}"/>
              </a:ext>
            </a:extLst>
          </p:cNvPr>
          <p:cNvPicPr>
            <a:picLocks noChangeAspect="1"/>
          </p:cNvPicPr>
          <p:nvPr/>
        </p:nvPicPr>
        <p:blipFill>
          <a:blip r:embed="rId2"/>
          <a:stretch>
            <a:fillRect/>
          </a:stretch>
        </p:blipFill>
        <p:spPr>
          <a:xfrm>
            <a:off x="17237246" y="10975647"/>
            <a:ext cx="11295811" cy="7339086"/>
          </a:xfrm>
          <a:prstGeom prst="rect">
            <a:avLst/>
          </a:prstGeom>
        </p:spPr>
      </p:pic>
      <p:sp>
        <p:nvSpPr>
          <p:cNvPr id="7" name="Rectangle : coins arrondis 6">
            <a:extLst>
              <a:ext uri="{FF2B5EF4-FFF2-40B4-BE49-F238E27FC236}">
                <a16:creationId xmlns:a16="http://schemas.microsoft.com/office/drawing/2014/main" id="{8B79F82B-DFF0-ADC4-0429-0312D0793357}"/>
              </a:ext>
            </a:extLst>
          </p:cNvPr>
          <p:cNvSpPr/>
          <p:nvPr/>
        </p:nvSpPr>
        <p:spPr>
          <a:xfrm>
            <a:off x="457200" y="330200"/>
            <a:ext cx="29277733" cy="3254236"/>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806A06BF-A08E-3790-477C-BAB2E37E05C9}"/>
              </a:ext>
            </a:extLst>
          </p:cNvPr>
          <p:cNvSpPr/>
          <p:nvPr/>
        </p:nvSpPr>
        <p:spPr>
          <a:xfrm>
            <a:off x="643467" y="465658"/>
            <a:ext cx="28930600" cy="298543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E7D3BAC2-DA2B-C751-EBEC-269B24D43BD0}"/>
              </a:ext>
            </a:extLst>
          </p:cNvPr>
          <p:cNvSpPr txBox="1"/>
          <p:nvPr/>
        </p:nvSpPr>
        <p:spPr>
          <a:xfrm>
            <a:off x="1121037" y="544751"/>
            <a:ext cx="28085143" cy="2985433"/>
          </a:xfrm>
          <a:prstGeom prst="rect">
            <a:avLst/>
          </a:prstGeom>
          <a:noFill/>
        </p:spPr>
        <p:txBody>
          <a:bodyPr wrap="square" rtlCol="0">
            <a:spAutoFit/>
          </a:bodyPr>
          <a:lstStyle/>
          <a:p>
            <a:pPr algn="ctr"/>
            <a:r>
              <a:rPr lang="fr-FR" sz="10000" b="1" dirty="0"/>
              <a:t>Risque cardiovasculaire et comportements de santé </a:t>
            </a:r>
          </a:p>
          <a:p>
            <a:pPr algn="ctr"/>
            <a:r>
              <a:rPr lang="fr-FR" sz="8800" b="1" dirty="0"/>
              <a:t>Quel rôle pour nos habitudes de vie dans notre santé ?  </a:t>
            </a:r>
            <a:r>
              <a:rPr lang="fr-FR" sz="8800" dirty="0"/>
              <a:t> </a:t>
            </a:r>
          </a:p>
        </p:txBody>
      </p:sp>
      <p:sp>
        <p:nvSpPr>
          <p:cNvPr id="15" name="ZoneTexte 14">
            <a:extLst>
              <a:ext uri="{FF2B5EF4-FFF2-40B4-BE49-F238E27FC236}">
                <a16:creationId xmlns:a16="http://schemas.microsoft.com/office/drawing/2014/main" id="{C8B95054-D2D1-61D4-878C-9AEC85703FDD}"/>
              </a:ext>
            </a:extLst>
          </p:cNvPr>
          <p:cNvSpPr txBox="1"/>
          <p:nvPr/>
        </p:nvSpPr>
        <p:spPr>
          <a:xfrm>
            <a:off x="2163275" y="11192320"/>
            <a:ext cx="13560387" cy="6863417"/>
          </a:xfrm>
          <a:prstGeom prst="rect">
            <a:avLst/>
          </a:prstGeom>
          <a:noFill/>
        </p:spPr>
        <p:txBody>
          <a:bodyPr wrap="square" rtlCol="0">
            <a:spAutoFit/>
          </a:bodyPr>
          <a:lstStyle/>
          <a:p>
            <a:pPr algn="just"/>
            <a:r>
              <a:rPr lang="fr-FR" sz="4000" noProof="0" dirty="0">
                <a:latin typeface="Brix Slab Light" panose="02000000000000000000" pitchFamily="50" charset="0"/>
              </a:rPr>
              <a:t>Les données utilisées dans ce projet proviennent de la plateforme </a:t>
            </a:r>
            <a:r>
              <a:rPr lang="fr-FR" sz="4000" noProof="0" dirty="0" err="1">
                <a:latin typeface="Brix Slab Light" panose="02000000000000000000" pitchFamily="50" charset="0"/>
              </a:rPr>
              <a:t>Kaggle</a:t>
            </a:r>
            <a:r>
              <a:rPr lang="fr-FR" sz="4000" noProof="0" dirty="0">
                <a:latin typeface="Brix Slab Light" panose="02000000000000000000" pitchFamily="50" charset="0"/>
              </a:rPr>
              <a:t> et ont été générées : elles ne reflètent probablement pas un jeu de données réelles, et doivent être utilisées uniquement dans l’objectif d’entrainer ses compétences en manipulation, traitement et analyse avancée de données. </a:t>
            </a:r>
          </a:p>
          <a:p>
            <a:pPr algn="just"/>
            <a:endParaRPr lang="fr-FR" sz="4000" noProof="0" dirty="0">
              <a:latin typeface="Brix Slab Light" panose="02000000000000000000" pitchFamily="50" charset="0"/>
            </a:endParaRPr>
          </a:p>
          <a:p>
            <a:pPr algn="just"/>
            <a:r>
              <a:rPr lang="fr-FR" sz="4000" noProof="0" dirty="0">
                <a:latin typeface="Brix Slab Light" panose="02000000000000000000" pitchFamily="50" charset="0"/>
              </a:rPr>
              <a:t>Le jeu contient près de 30000 enregistrements, 20 variables associées à la santé de la population, ainsi que des valeurs manquantes et aberrantes. Après traitement, l’échantillon utilisé est de 13136 individus. </a:t>
            </a:r>
          </a:p>
        </p:txBody>
      </p:sp>
      <p:sp>
        <p:nvSpPr>
          <p:cNvPr id="31" name="ZoneTexte 30">
            <a:extLst>
              <a:ext uri="{FF2B5EF4-FFF2-40B4-BE49-F238E27FC236}">
                <a16:creationId xmlns:a16="http://schemas.microsoft.com/office/drawing/2014/main" id="{A1F3EA39-ED2A-34E7-9538-3A09A8740AB9}"/>
              </a:ext>
            </a:extLst>
          </p:cNvPr>
          <p:cNvSpPr txBox="1"/>
          <p:nvPr/>
        </p:nvSpPr>
        <p:spPr>
          <a:xfrm>
            <a:off x="1121037" y="18589595"/>
            <a:ext cx="28085143" cy="1015663"/>
          </a:xfrm>
          <a:prstGeom prst="rect">
            <a:avLst/>
          </a:prstGeom>
          <a:solidFill>
            <a:srgbClr val="718FC4"/>
          </a:solidFill>
        </p:spPr>
        <p:txBody>
          <a:bodyPr wrap="square" rtlCol="0">
            <a:spAutoFit/>
          </a:bodyPr>
          <a:lstStyle/>
          <a:p>
            <a:pPr algn="ctr"/>
            <a:r>
              <a:rPr lang="fr-FR" sz="6000" b="1" dirty="0">
                <a:solidFill>
                  <a:schemeClr val="bg1"/>
                </a:solidFill>
                <a:latin typeface="Brix Slab Light" panose="02000000000000000000" pitchFamily="50" charset="0"/>
              </a:rPr>
              <a:t>Santé et biomarqueur </a:t>
            </a:r>
          </a:p>
        </p:txBody>
      </p:sp>
      <p:sp>
        <p:nvSpPr>
          <p:cNvPr id="32" name="ZoneTexte 31">
            <a:extLst>
              <a:ext uri="{FF2B5EF4-FFF2-40B4-BE49-F238E27FC236}">
                <a16:creationId xmlns:a16="http://schemas.microsoft.com/office/drawing/2014/main" id="{4E450956-D57D-EFCF-A035-EFCE7AE01F38}"/>
              </a:ext>
            </a:extLst>
          </p:cNvPr>
          <p:cNvSpPr txBox="1"/>
          <p:nvPr/>
        </p:nvSpPr>
        <p:spPr>
          <a:xfrm>
            <a:off x="1121037" y="9618609"/>
            <a:ext cx="28085143" cy="1015663"/>
          </a:xfrm>
          <a:prstGeom prst="rect">
            <a:avLst/>
          </a:prstGeom>
          <a:solidFill>
            <a:srgbClr val="718FC4"/>
          </a:solidFill>
        </p:spPr>
        <p:txBody>
          <a:bodyPr wrap="square" rtlCol="0">
            <a:spAutoFit/>
          </a:bodyPr>
          <a:lstStyle/>
          <a:p>
            <a:pPr algn="ctr"/>
            <a:r>
              <a:rPr lang="fr-FR" sz="6000" b="1" dirty="0">
                <a:solidFill>
                  <a:schemeClr val="bg1"/>
                </a:solidFill>
                <a:latin typeface="Brix Slab Light" panose="02000000000000000000" pitchFamily="50" charset="0"/>
              </a:rPr>
              <a:t>Description du jeu de données </a:t>
            </a:r>
          </a:p>
        </p:txBody>
      </p:sp>
      <p:pic>
        <p:nvPicPr>
          <p:cNvPr id="34" name="Image 33">
            <a:extLst>
              <a:ext uri="{FF2B5EF4-FFF2-40B4-BE49-F238E27FC236}">
                <a16:creationId xmlns:a16="http://schemas.microsoft.com/office/drawing/2014/main" id="{273BDB6F-3DE3-A28A-5990-3752426E0175}"/>
              </a:ext>
            </a:extLst>
          </p:cNvPr>
          <p:cNvPicPr>
            <a:picLocks noChangeAspect="1"/>
          </p:cNvPicPr>
          <p:nvPr/>
        </p:nvPicPr>
        <p:blipFill>
          <a:blip r:embed="rId3"/>
          <a:stretch>
            <a:fillRect/>
          </a:stretch>
        </p:blipFill>
        <p:spPr>
          <a:xfrm>
            <a:off x="1293243" y="26033170"/>
            <a:ext cx="6695361" cy="4798113"/>
          </a:xfrm>
          <a:prstGeom prst="rect">
            <a:avLst/>
          </a:prstGeom>
        </p:spPr>
      </p:pic>
      <p:grpSp>
        <p:nvGrpSpPr>
          <p:cNvPr id="36" name="Groupe 35">
            <a:extLst>
              <a:ext uri="{FF2B5EF4-FFF2-40B4-BE49-F238E27FC236}">
                <a16:creationId xmlns:a16="http://schemas.microsoft.com/office/drawing/2014/main" id="{3EB96823-E7D7-E8B5-207B-F8A549F90808}"/>
              </a:ext>
            </a:extLst>
          </p:cNvPr>
          <p:cNvGrpSpPr/>
          <p:nvPr/>
        </p:nvGrpSpPr>
        <p:grpSpPr>
          <a:xfrm>
            <a:off x="2393686" y="24897628"/>
            <a:ext cx="4940301" cy="917575"/>
            <a:chOff x="10490199" y="25209500"/>
            <a:chExt cx="4940301" cy="917575"/>
          </a:xfrm>
        </p:grpSpPr>
        <p:sp>
          <p:nvSpPr>
            <p:cNvPr id="35" name="Rectangle 34">
              <a:extLst>
                <a:ext uri="{FF2B5EF4-FFF2-40B4-BE49-F238E27FC236}">
                  <a16:creationId xmlns:a16="http://schemas.microsoft.com/office/drawing/2014/main" id="{1B7E4BAF-6684-A3E8-BF77-4626FE569C0E}"/>
                </a:ext>
              </a:extLst>
            </p:cNvPr>
            <p:cNvSpPr/>
            <p:nvPr/>
          </p:nvSpPr>
          <p:spPr>
            <a:xfrm>
              <a:off x="10490199" y="25209500"/>
              <a:ext cx="4940301" cy="917575"/>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D8B85BFE-1F01-0982-B6E9-30C39F82BE01}"/>
                </a:ext>
              </a:extLst>
            </p:cNvPr>
            <p:cNvSpPr txBox="1"/>
            <p:nvPr/>
          </p:nvSpPr>
          <p:spPr>
            <a:xfrm>
              <a:off x="10575519" y="25308781"/>
              <a:ext cx="4765148" cy="731025"/>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Problèmes de santé </a:t>
              </a:r>
            </a:p>
          </p:txBody>
        </p:sp>
      </p:grpSp>
      <p:grpSp>
        <p:nvGrpSpPr>
          <p:cNvPr id="37" name="Groupe 36">
            <a:extLst>
              <a:ext uri="{FF2B5EF4-FFF2-40B4-BE49-F238E27FC236}">
                <a16:creationId xmlns:a16="http://schemas.microsoft.com/office/drawing/2014/main" id="{5CBEB9EA-E65B-5C83-3EF1-93A24E17D21A}"/>
              </a:ext>
            </a:extLst>
          </p:cNvPr>
          <p:cNvGrpSpPr/>
          <p:nvPr/>
        </p:nvGrpSpPr>
        <p:grpSpPr>
          <a:xfrm>
            <a:off x="2393686" y="19787580"/>
            <a:ext cx="4940301" cy="917575"/>
            <a:chOff x="10490199" y="25209500"/>
            <a:chExt cx="4940301" cy="917575"/>
          </a:xfrm>
        </p:grpSpPr>
        <p:sp>
          <p:nvSpPr>
            <p:cNvPr id="38" name="Rectangle 37">
              <a:extLst>
                <a:ext uri="{FF2B5EF4-FFF2-40B4-BE49-F238E27FC236}">
                  <a16:creationId xmlns:a16="http://schemas.microsoft.com/office/drawing/2014/main" id="{88E50A99-55B1-2CCC-E4AB-BC8AC5FD4E87}"/>
                </a:ext>
              </a:extLst>
            </p:cNvPr>
            <p:cNvSpPr/>
            <p:nvPr/>
          </p:nvSpPr>
          <p:spPr>
            <a:xfrm>
              <a:off x="10490199" y="25209500"/>
              <a:ext cx="4940301" cy="917575"/>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ZoneTexte 38">
              <a:extLst>
                <a:ext uri="{FF2B5EF4-FFF2-40B4-BE49-F238E27FC236}">
                  <a16:creationId xmlns:a16="http://schemas.microsoft.com/office/drawing/2014/main" id="{3EFBFECB-2660-8D29-A664-56A864521CDB}"/>
                </a:ext>
              </a:extLst>
            </p:cNvPr>
            <p:cNvSpPr txBox="1"/>
            <p:nvPr/>
          </p:nvSpPr>
          <p:spPr>
            <a:xfrm>
              <a:off x="10575518" y="25308781"/>
              <a:ext cx="4765149" cy="731025"/>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Etat de santé </a:t>
              </a:r>
            </a:p>
          </p:txBody>
        </p:sp>
      </p:grpSp>
      <p:sp>
        <p:nvSpPr>
          <p:cNvPr id="42" name="ZoneTexte 41">
            <a:extLst>
              <a:ext uri="{FF2B5EF4-FFF2-40B4-BE49-F238E27FC236}">
                <a16:creationId xmlns:a16="http://schemas.microsoft.com/office/drawing/2014/main" id="{E76E9DC1-673C-3169-FAB6-BEEBDE151362}"/>
              </a:ext>
            </a:extLst>
          </p:cNvPr>
          <p:cNvSpPr txBox="1"/>
          <p:nvPr/>
        </p:nvSpPr>
        <p:spPr>
          <a:xfrm>
            <a:off x="1121037" y="31143218"/>
            <a:ext cx="28085143" cy="1015663"/>
          </a:xfrm>
          <a:prstGeom prst="rect">
            <a:avLst/>
          </a:prstGeom>
          <a:solidFill>
            <a:srgbClr val="718FC4"/>
          </a:solidFill>
        </p:spPr>
        <p:txBody>
          <a:bodyPr wrap="square" rtlCol="0">
            <a:spAutoFit/>
          </a:bodyPr>
          <a:lstStyle/>
          <a:p>
            <a:pPr algn="ctr"/>
            <a:r>
              <a:rPr lang="fr-FR" sz="6000" b="1" dirty="0">
                <a:solidFill>
                  <a:schemeClr val="bg1"/>
                </a:solidFill>
                <a:latin typeface="Brix Slab Light" panose="02000000000000000000" pitchFamily="50" charset="0"/>
              </a:rPr>
              <a:t>Comportements de santé et mode de vie</a:t>
            </a:r>
          </a:p>
        </p:txBody>
      </p:sp>
      <p:grpSp>
        <p:nvGrpSpPr>
          <p:cNvPr id="43" name="Groupe 42">
            <a:extLst>
              <a:ext uri="{FF2B5EF4-FFF2-40B4-BE49-F238E27FC236}">
                <a16:creationId xmlns:a16="http://schemas.microsoft.com/office/drawing/2014/main" id="{08C1D1F1-7936-D2EE-5A42-9348DBE65DF8}"/>
              </a:ext>
            </a:extLst>
          </p:cNvPr>
          <p:cNvGrpSpPr/>
          <p:nvPr/>
        </p:nvGrpSpPr>
        <p:grpSpPr>
          <a:xfrm>
            <a:off x="17948111" y="19798845"/>
            <a:ext cx="4940301" cy="917575"/>
            <a:chOff x="10490199" y="25209500"/>
            <a:chExt cx="4940301" cy="917575"/>
          </a:xfrm>
        </p:grpSpPr>
        <p:sp>
          <p:nvSpPr>
            <p:cNvPr id="44" name="Rectangle 43">
              <a:extLst>
                <a:ext uri="{FF2B5EF4-FFF2-40B4-BE49-F238E27FC236}">
                  <a16:creationId xmlns:a16="http://schemas.microsoft.com/office/drawing/2014/main" id="{C9F7CB59-D4B3-1991-2DCF-5722C8D39BDC}"/>
                </a:ext>
              </a:extLst>
            </p:cNvPr>
            <p:cNvSpPr/>
            <p:nvPr/>
          </p:nvSpPr>
          <p:spPr>
            <a:xfrm>
              <a:off x="10490199" y="25209500"/>
              <a:ext cx="4940301" cy="917575"/>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989C1839-2DC8-FE59-BE1B-584614428C95}"/>
                </a:ext>
              </a:extLst>
            </p:cNvPr>
            <p:cNvSpPr txBox="1"/>
            <p:nvPr/>
          </p:nvSpPr>
          <p:spPr>
            <a:xfrm>
              <a:off x="10575519" y="25308781"/>
              <a:ext cx="4765148" cy="731025"/>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Biomarqueurs</a:t>
              </a:r>
            </a:p>
          </p:txBody>
        </p:sp>
      </p:grpSp>
      <p:sp>
        <p:nvSpPr>
          <p:cNvPr id="78" name="ZoneTexte 77">
            <a:extLst>
              <a:ext uri="{FF2B5EF4-FFF2-40B4-BE49-F238E27FC236}">
                <a16:creationId xmlns:a16="http://schemas.microsoft.com/office/drawing/2014/main" id="{8A3DF54A-1452-42F9-2520-116E1EF43B59}"/>
              </a:ext>
            </a:extLst>
          </p:cNvPr>
          <p:cNvSpPr txBox="1"/>
          <p:nvPr/>
        </p:nvSpPr>
        <p:spPr>
          <a:xfrm>
            <a:off x="27260608" y="20165478"/>
            <a:ext cx="1778504" cy="830997"/>
          </a:xfrm>
          <a:prstGeom prst="rect">
            <a:avLst/>
          </a:prstGeom>
          <a:noFill/>
          <a:ln w="28575">
            <a:solidFill>
              <a:schemeClr val="bg1"/>
            </a:solidFill>
          </a:ln>
        </p:spPr>
        <p:txBody>
          <a:bodyPr wrap="square" rtlCol="0">
            <a:spAutoFit/>
          </a:bodyPr>
          <a:lstStyle/>
          <a:p>
            <a:pPr algn="just"/>
            <a:r>
              <a:rPr lang="fr-FR" sz="2400" i="1" dirty="0">
                <a:solidFill>
                  <a:srgbClr val="FF0000"/>
                </a:solidFill>
                <a:latin typeface="Brix Slab Light" panose="02000000000000000000" pitchFamily="50" charset="0"/>
              </a:rPr>
              <a:t>* Médiane </a:t>
            </a:r>
          </a:p>
          <a:p>
            <a:pPr algn="just"/>
            <a:r>
              <a:rPr lang="fr-FR" sz="2400" i="1" dirty="0">
                <a:solidFill>
                  <a:schemeClr val="accent1">
                    <a:lumMod val="50000"/>
                  </a:schemeClr>
                </a:solidFill>
                <a:latin typeface="Brix Slab Light" panose="02000000000000000000" pitchFamily="50" charset="0"/>
              </a:rPr>
              <a:t>* Moyenne</a:t>
            </a:r>
          </a:p>
        </p:txBody>
      </p:sp>
      <p:pic>
        <p:nvPicPr>
          <p:cNvPr id="81" name="Image 80">
            <a:extLst>
              <a:ext uri="{FF2B5EF4-FFF2-40B4-BE49-F238E27FC236}">
                <a16:creationId xmlns:a16="http://schemas.microsoft.com/office/drawing/2014/main" id="{0FA3F894-99E4-4547-7F91-3404719B1E8A}"/>
              </a:ext>
            </a:extLst>
          </p:cNvPr>
          <p:cNvPicPr>
            <a:picLocks noChangeAspect="1"/>
          </p:cNvPicPr>
          <p:nvPr/>
        </p:nvPicPr>
        <p:blipFill>
          <a:blip r:embed="rId4"/>
          <a:stretch>
            <a:fillRect/>
          </a:stretch>
        </p:blipFill>
        <p:spPr>
          <a:xfrm>
            <a:off x="878484" y="33789633"/>
            <a:ext cx="7110120" cy="3068578"/>
          </a:xfrm>
          <a:prstGeom prst="rect">
            <a:avLst/>
          </a:prstGeom>
        </p:spPr>
      </p:pic>
      <p:pic>
        <p:nvPicPr>
          <p:cNvPr id="85" name="Image 84">
            <a:extLst>
              <a:ext uri="{FF2B5EF4-FFF2-40B4-BE49-F238E27FC236}">
                <a16:creationId xmlns:a16="http://schemas.microsoft.com/office/drawing/2014/main" id="{95E940CE-3244-D1A3-EB16-D956694E6878}"/>
              </a:ext>
            </a:extLst>
          </p:cNvPr>
          <p:cNvPicPr>
            <a:picLocks noChangeAspect="1"/>
          </p:cNvPicPr>
          <p:nvPr/>
        </p:nvPicPr>
        <p:blipFill>
          <a:blip r:embed="rId5"/>
          <a:stretch>
            <a:fillRect/>
          </a:stretch>
        </p:blipFill>
        <p:spPr>
          <a:xfrm>
            <a:off x="24687951" y="37928470"/>
            <a:ext cx="4351161" cy="4440364"/>
          </a:xfrm>
          <a:prstGeom prst="rect">
            <a:avLst/>
          </a:prstGeom>
        </p:spPr>
      </p:pic>
      <p:pic>
        <p:nvPicPr>
          <p:cNvPr id="91" name="Image 90">
            <a:extLst>
              <a:ext uri="{FF2B5EF4-FFF2-40B4-BE49-F238E27FC236}">
                <a16:creationId xmlns:a16="http://schemas.microsoft.com/office/drawing/2014/main" id="{1D308123-B6C8-F453-9DF6-228927F88F49}"/>
              </a:ext>
            </a:extLst>
          </p:cNvPr>
          <p:cNvPicPr>
            <a:picLocks noChangeAspect="1"/>
          </p:cNvPicPr>
          <p:nvPr/>
        </p:nvPicPr>
        <p:blipFill>
          <a:blip r:embed="rId6"/>
          <a:stretch>
            <a:fillRect/>
          </a:stretch>
        </p:blipFill>
        <p:spPr>
          <a:xfrm>
            <a:off x="21965671" y="34101038"/>
            <a:ext cx="2722280" cy="3068578"/>
          </a:xfrm>
          <a:prstGeom prst="rect">
            <a:avLst/>
          </a:prstGeom>
        </p:spPr>
      </p:pic>
      <p:pic>
        <p:nvPicPr>
          <p:cNvPr id="95" name="Image 94">
            <a:extLst>
              <a:ext uri="{FF2B5EF4-FFF2-40B4-BE49-F238E27FC236}">
                <a16:creationId xmlns:a16="http://schemas.microsoft.com/office/drawing/2014/main" id="{AB7827D1-76E8-5683-6FB4-BE6E2CB8B972}"/>
              </a:ext>
            </a:extLst>
          </p:cNvPr>
          <p:cNvPicPr>
            <a:picLocks noChangeAspect="1"/>
          </p:cNvPicPr>
          <p:nvPr/>
        </p:nvPicPr>
        <p:blipFill>
          <a:blip r:embed="rId7"/>
          <a:stretch>
            <a:fillRect/>
          </a:stretch>
        </p:blipFill>
        <p:spPr>
          <a:xfrm>
            <a:off x="10578661" y="34101038"/>
            <a:ext cx="5145001" cy="3341703"/>
          </a:xfrm>
          <a:prstGeom prst="rect">
            <a:avLst/>
          </a:prstGeom>
        </p:spPr>
      </p:pic>
      <p:pic>
        <p:nvPicPr>
          <p:cNvPr id="99" name="Image 98">
            <a:extLst>
              <a:ext uri="{FF2B5EF4-FFF2-40B4-BE49-F238E27FC236}">
                <a16:creationId xmlns:a16="http://schemas.microsoft.com/office/drawing/2014/main" id="{4E9ECD66-D3C6-5708-18D2-6BEDB56110D2}"/>
              </a:ext>
            </a:extLst>
          </p:cNvPr>
          <p:cNvPicPr>
            <a:picLocks noChangeAspect="1"/>
          </p:cNvPicPr>
          <p:nvPr/>
        </p:nvPicPr>
        <p:blipFill>
          <a:blip r:embed="rId8"/>
          <a:stretch>
            <a:fillRect/>
          </a:stretch>
        </p:blipFill>
        <p:spPr>
          <a:xfrm>
            <a:off x="14669294" y="38081195"/>
            <a:ext cx="7960634" cy="4271015"/>
          </a:xfrm>
          <a:prstGeom prst="rect">
            <a:avLst/>
          </a:prstGeom>
        </p:spPr>
      </p:pic>
      <p:grpSp>
        <p:nvGrpSpPr>
          <p:cNvPr id="24" name="Groupe 23">
            <a:extLst>
              <a:ext uri="{FF2B5EF4-FFF2-40B4-BE49-F238E27FC236}">
                <a16:creationId xmlns:a16="http://schemas.microsoft.com/office/drawing/2014/main" id="{1B6487FF-1BDA-43D4-3811-05738A449F2E}"/>
              </a:ext>
            </a:extLst>
          </p:cNvPr>
          <p:cNvGrpSpPr/>
          <p:nvPr/>
        </p:nvGrpSpPr>
        <p:grpSpPr>
          <a:xfrm>
            <a:off x="10801063" y="20929821"/>
            <a:ext cx="16833500" cy="10005961"/>
            <a:chOff x="11635614" y="20985567"/>
            <a:chExt cx="16833500" cy="10005961"/>
          </a:xfrm>
        </p:grpSpPr>
        <p:grpSp>
          <p:nvGrpSpPr>
            <p:cNvPr id="2" name="Groupe 1">
              <a:extLst>
                <a:ext uri="{FF2B5EF4-FFF2-40B4-BE49-F238E27FC236}">
                  <a16:creationId xmlns:a16="http://schemas.microsoft.com/office/drawing/2014/main" id="{385F0AAB-9D72-9DA5-3765-4C73DDA85D35}"/>
                </a:ext>
              </a:extLst>
            </p:cNvPr>
            <p:cNvGrpSpPr/>
            <p:nvPr/>
          </p:nvGrpSpPr>
          <p:grpSpPr>
            <a:xfrm>
              <a:off x="12174707" y="21072335"/>
              <a:ext cx="16294407" cy="9457528"/>
              <a:chOff x="12174707" y="21072335"/>
              <a:chExt cx="16294407" cy="9457528"/>
            </a:xfrm>
          </p:grpSpPr>
          <p:pic>
            <p:nvPicPr>
              <p:cNvPr id="49" name="Image 48">
                <a:extLst>
                  <a:ext uri="{FF2B5EF4-FFF2-40B4-BE49-F238E27FC236}">
                    <a16:creationId xmlns:a16="http://schemas.microsoft.com/office/drawing/2014/main" id="{A84A2277-1848-2CE8-7BDA-23550C724BF9}"/>
                  </a:ext>
                </a:extLst>
              </p:cNvPr>
              <p:cNvPicPr>
                <a:picLocks noChangeAspect="1"/>
              </p:cNvPicPr>
              <p:nvPr/>
            </p:nvPicPr>
            <p:blipFill>
              <a:blip r:embed="rId9"/>
              <a:stretch>
                <a:fillRect/>
              </a:stretch>
            </p:blipFill>
            <p:spPr>
              <a:xfrm>
                <a:off x="12174707" y="21172236"/>
                <a:ext cx="4944935" cy="4366063"/>
              </a:xfrm>
              <a:prstGeom prst="rect">
                <a:avLst/>
              </a:prstGeom>
            </p:spPr>
          </p:pic>
          <p:pic>
            <p:nvPicPr>
              <p:cNvPr id="56" name="Image 55">
                <a:extLst>
                  <a:ext uri="{FF2B5EF4-FFF2-40B4-BE49-F238E27FC236}">
                    <a16:creationId xmlns:a16="http://schemas.microsoft.com/office/drawing/2014/main" id="{8670E9A9-851A-6826-DF53-CEE3912D0D91}"/>
                  </a:ext>
                </a:extLst>
              </p:cNvPr>
              <p:cNvPicPr>
                <a:picLocks noChangeAspect="1"/>
              </p:cNvPicPr>
              <p:nvPr/>
            </p:nvPicPr>
            <p:blipFill>
              <a:blip r:embed="rId10"/>
              <a:stretch>
                <a:fillRect/>
              </a:stretch>
            </p:blipFill>
            <p:spPr>
              <a:xfrm>
                <a:off x="12235221" y="26033170"/>
                <a:ext cx="4940301" cy="4490157"/>
              </a:xfrm>
              <a:prstGeom prst="rect">
                <a:avLst/>
              </a:prstGeom>
            </p:spPr>
          </p:pic>
          <p:pic>
            <p:nvPicPr>
              <p:cNvPr id="58" name="Image 57">
                <a:extLst>
                  <a:ext uri="{FF2B5EF4-FFF2-40B4-BE49-F238E27FC236}">
                    <a16:creationId xmlns:a16="http://schemas.microsoft.com/office/drawing/2014/main" id="{374FDEDC-289F-42DF-4C96-38D315A263B3}"/>
                  </a:ext>
                </a:extLst>
              </p:cNvPr>
              <p:cNvPicPr>
                <a:picLocks noChangeAspect="1"/>
              </p:cNvPicPr>
              <p:nvPr/>
            </p:nvPicPr>
            <p:blipFill>
              <a:blip r:embed="rId11"/>
              <a:stretch>
                <a:fillRect/>
              </a:stretch>
            </p:blipFill>
            <p:spPr>
              <a:xfrm>
                <a:off x="17848847" y="21072335"/>
                <a:ext cx="4940302" cy="4490160"/>
              </a:xfrm>
              <a:prstGeom prst="rect">
                <a:avLst/>
              </a:prstGeom>
            </p:spPr>
          </p:pic>
          <p:pic>
            <p:nvPicPr>
              <p:cNvPr id="60" name="Image 59">
                <a:extLst>
                  <a:ext uri="{FF2B5EF4-FFF2-40B4-BE49-F238E27FC236}">
                    <a16:creationId xmlns:a16="http://schemas.microsoft.com/office/drawing/2014/main" id="{0D8DC25D-CC10-2D04-0834-709095879753}"/>
                  </a:ext>
                </a:extLst>
              </p:cNvPr>
              <p:cNvPicPr>
                <a:picLocks noChangeAspect="1"/>
              </p:cNvPicPr>
              <p:nvPr/>
            </p:nvPicPr>
            <p:blipFill>
              <a:blip r:embed="rId12"/>
              <a:stretch>
                <a:fillRect/>
              </a:stretch>
            </p:blipFill>
            <p:spPr>
              <a:xfrm>
                <a:off x="17848847" y="26005380"/>
                <a:ext cx="4940301" cy="4524483"/>
              </a:xfrm>
              <a:prstGeom prst="rect">
                <a:avLst/>
              </a:prstGeom>
            </p:spPr>
          </p:pic>
          <p:pic>
            <p:nvPicPr>
              <p:cNvPr id="62" name="Image 61">
                <a:extLst>
                  <a:ext uri="{FF2B5EF4-FFF2-40B4-BE49-F238E27FC236}">
                    <a16:creationId xmlns:a16="http://schemas.microsoft.com/office/drawing/2014/main" id="{69918F3B-F0F4-8C53-871D-83E31C10BD82}"/>
                  </a:ext>
                </a:extLst>
              </p:cNvPr>
              <p:cNvPicPr>
                <a:picLocks noChangeAspect="1"/>
              </p:cNvPicPr>
              <p:nvPr/>
            </p:nvPicPr>
            <p:blipFill>
              <a:blip r:embed="rId13"/>
              <a:stretch>
                <a:fillRect/>
              </a:stretch>
            </p:blipFill>
            <p:spPr>
              <a:xfrm>
                <a:off x="23405670" y="21172236"/>
                <a:ext cx="4944935" cy="4391811"/>
              </a:xfrm>
              <a:prstGeom prst="rect">
                <a:avLst/>
              </a:prstGeom>
            </p:spPr>
          </p:pic>
          <p:pic>
            <p:nvPicPr>
              <p:cNvPr id="64" name="Image 63">
                <a:extLst>
                  <a:ext uri="{FF2B5EF4-FFF2-40B4-BE49-F238E27FC236}">
                    <a16:creationId xmlns:a16="http://schemas.microsoft.com/office/drawing/2014/main" id="{ABA3ABAB-307E-F974-05A7-58DEE8916DDB}"/>
                  </a:ext>
                </a:extLst>
              </p:cNvPr>
              <p:cNvPicPr>
                <a:picLocks noChangeAspect="1"/>
              </p:cNvPicPr>
              <p:nvPr/>
            </p:nvPicPr>
            <p:blipFill>
              <a:blip r:embed="rId14"/>
              <a:stretch>
                <a:fillRect/>
              </a:stretch>
            </p:blipFill>
            <p:spPr>
              <a:xfrm>
                <a:off x="23462473" y="26005381"/>
                <a:ext cx="5006641" cy="4517946"/>
              </a:xfrm>
              <a:prstGeom prst="rect">
                <a:avLst/>
              </a:prstGeom>
            </p:spPr>
          </p:pic>
        </p:grpSp>
        <p:sp>
          <p:nvSpPr>
            <p:cNvPr id="3" name="ZoneTexte 2">
              <a:extLst>
                <a:ext uri="{FF2B5EF4-FFF2-40B4-BE49-F238E27FC236}">
                  <a16:creationId xmlns:a16="http://schemas.microsoft.com/office/drawing/2014/main" id="{D075ABB5-CD22-C490-EBE1-2A5A2C2AA483}"/>
                </a:ext>
              </a:extLst>
            </p:cNvPr>
            <p:cNvSpPr txBox="1"/>
            <p:nvPr/>
          </p:nvSpPr>
          <p:spPr>
            <a:xfrm rot="16200000">
              <a:off x="9483873" y="23137308"/>
              <a:ext cx="4765148" cy="461665"/>
            </a:xfrm>
            <a:prstGeom prst="rect">
              <a:avLst/>
            </a:prstGeom>
            <a:solidFill>
              <a:schemeClr val="bg1"/>
            </a:solidFill>
            <a:ln w="28575">
              <a:solidFill>
                <a:schemeClr val="bg1"/>
              </a:solidFill>
            </a:ln>
          </p:spPr>
          <p:txBody>
            <a:bodyPr wrap="square" rtlCol="0">
              <a:spAutoFit/>
            </a:bodyPr>
            <a:lstStyle/>
            <a:p>
              <a:pPr algn="ctr"/>
              <a:r>
                <a:rPr lang="fr-FR" sz="2400" dirty="0">
                  <a:latin typeface="Brix Slab Light" panose="02000000000000000000" pitchFamily="50" charset="0"/>
                </a:rPr>
                <a:t>Fréquence</a:t>
              </a:r>
            </a:p>
          </p:txBody>
        </p:sp>
        <p:sp>
          <p:nvSpPr>
            <p:cNvPr id="4" name="ZoneTexte 3">
              <a:extLst>
                <a:ext uri="{FF2B5EF4-FFF2-40B4-BE49-F238E27FC236}">
                  <a16:creationId xmlns:a16="http://schemas.microsoft.com/office/drawing/2014/main" id="{09B62DBB-ECA8-DA9C-A57A-92726779B7A0}"/>
                </a:ext>
              </a:extLst>
            </p:cNvPr>
            <p:cNvSpPr txBox="1"/>
            <p:nvPr/>
          </p:nvSpPr>
          <p:spPr>
            <a:xfrm rot="16200000">
              <a:off x="9515985" y="27879675"/>
              <a:ext cx="4765148" cy="461665"/>
            </a:xfrm>
            <a:prstGeom prst="rect">
              <a:avLst/>
            </a:prstGeom>
            <a:solidFill>
              <a:schemeClr val="bg1"/>
            </a:solidFill>
            <a:ln w="28575">
              <a:solidFill>
                <a:schemeClr val="bg1"/>
              </a:solidFill>
            </a:ln>
          </p:spPr>
          <p:txBody>
            <a:bodyPr wrap="square" rtlCol="0">
              <a:spAutoFit/>
            </a:bodyPr>
            <a:lstStyle/>
            <a:p>
              <a:pPr algn="ctr"/>
              <a:r>
                <a:rPr lang="fr-FR" sz="2400" dirty="0">
                  <a:latin typeface="Brix Slab Light" panose="02000000000000000000" pitchFamily="50" charset="0"/>
                </a:rPr>
                <a:t>Fréquence</a:t>
              </a:r>
            </a:p>
          </p:txBody>
        </p:sp>
        <p:sp>
          <p:nvSpPr>
            <p:cNvPr id="5" name="ZoneTexte 4">
              <a:extLst>
                <a:ext uri="{FF2B5EF4-FFF2-40B4-BE49-F238E27FC236}">
                  <a16:creationId xmlns:a16="http://schemas.microsoft.com/office/drawing/2014/main" id="{EFE66CCA-BD15-DE8D-EBDC-788331CE636A}"/>
                </a:ext>
              </a:extLst>
            </p:cNvPr>
            <p:cNvSpPr txBox="1"/>
            <p:nvPr/>
          </p:nvSpPr>
          <p:spPr>
            <a:xfrm>
              <a:off x="13467044" y="25531654"/>
              <a:ext cx="2931863" cy="461665"/>
            </a:xfrm>
            <a:prstGeom prst="rect">
              <a:avLst/>
            </a:prstGeom>
            <a:solidFill>
              <a:schemeClr val="bg1"/>
            </a:solidFill>
            <a:ln w="28575">
              <a:solidFill>
                <a:schemeClr val="bg1"/>
              </a:solidFill>
            </a:ln>
          </p:spPr>
          <p:txBody>
            <a:bodyPr wrap="square" rtlCol="0">
              <a:spAutoFit/>
            </a:bodyPr>
            <a:lstStyle/>
            <a:p>
              <a:pPr algn="ctr"/>
              <a:r>
                <a:rPr lang="fr-FR" sz="2400" dirty="0">
                  <a:latin typeface="Brix Slab Light" panose="02000000000000000000" pitchFamily="50" charset="0"/>
                </a:rPr>
                <a:t>Glucose (mg/dL)</a:t>
              </a:r>
            </a:p>
          </p:txBody>
        </p:sp>
        <p:sp>
          <p:nvSpPr>
            <p:cNvPr id="11" name="ZoneTexte 10">
              <a:extLst>
                <a:ext uri="{FF2B5EF4-FFF2-40B4-BE49-F238E27FC236}">
                  <a16:creationId xmlns:a16="http://schemas.microsoft.com/office/drawing/2014/main" id="{14A8310E-4604-BDF9-DD99-ADF71507F8F2}"/>
                </a:ext>
              </a:extLst>
            </p:cNvPr>
            <p:cNvSpPr txBox="1"/>
            <p:nvPr/>
          </p:nvSpPr>
          <p:spPr>
            <a:xfrm>
              <a:off x="18717280" y="25538299"/>
              <a:ext cx="4163685" cy="461665"/>
            </a:xfrm>
            <a:prstGeom prst="rect">
              <a:avLst/>
            </a:prstGeom>
            <a:noFill/>
            <a:ln w="28575">
              <a:solidFill>
                <a:schemeClr val="bg1"/>
              </a:solidFill>
            </a:ln>
          </p:spPr>
          <p:txBody>
            <a:bodyPr wrap="square" rtlCol="0">
              <a:spAutoFit/>
            </a:bodyPr>
            <a:lstStyle/>
            <a:p>
              <a:pPr algn="ctr"/>
              <a:r>
                <a:rPr lang="fr-FR" sz="2400" dirty="0">
                  <a:latin typeface="Brix Slab Light" panose="02000000000000000000" pitchFamily="50" charset="0"/>
                </a:rPr>
                <a:t>Taux d’oxygène sanguin (%)</a:t>
              </a:r>
            </a:p>
          </p:txBody>
        </p:sp>
        <p:sp>
          <p:nvSpPr>
            <p:cNvPr id="12" name="ZoneTexte 11">
              <a:extLst>
                <a:ext uri="{FF2B5EF4-FFF2-40B4-BE49-F238E27FC236}">
                  <a16:creationId xmlns:a16="http://schemas.microsoft.com/office/drawing/2014/main" id="{3BD35A9E-0081-1E8A-A0DD-6BD50138ACCF}"/>
                </a:ext>
              </a:extLst>
            </p:cNvPr>
            <p:cNvSpPr txBox="1"/>
            <p:nvPr/>
          </p:nvSpPr>
          <p:spPr>
            <a:xfrm>
              <a:off x="24829419" y="25531653"/>
              <a:ext cx="2931863" cy="461665"/>
            </a:xfrm>
            <a:prstGeom prst="rect">
              <a:avLst/>
            </a:prstGeom>
            <a:noFill/>
            <a:ln w="28575">
              <a:solidFill>
                <a:schemeClr val="bg1"/>
              </a:solidFill>
            </a:ln>
          </p:spPr>
          <p:txBody>
            <a:bodyPr wrap="square" rtlCol="0">
              <a:spAutoFit/>
            </a:bodyPr>
            <a:lstStyle/>
            <a:p>
              <a:pPr algn="ctr"/>
              <a:r>
                <a:rPr lang="fr-FR" sz="2400" dirty="0">
                  <a:latin typeface="Brix Slab Light" panose="02000000000000000000" pitchFamily="50" charset="0"/>
                </a:rPr>
                <a:t>Triglycérides (mg/dL)</a:t>
              </a:r>
            </a:p>
          </p:txBody>
        </p:sp>
        <p:sp>
          <p:nvSpPr>
            <p:cNvPr id="13" name="ZoneTexte 12">
              <a:extLst>
                <a:ext uri="{FF2B5EF4-FFF2-40B4-BE49-F238E27FC236}">
                  <a16:creationId xmlns:a16="http://schemas.microsoft.com/office/drawing/2014/main" id="{EFC49778-9AF7-297F-91F1-7C070E1D7A57}"/>
                </a:ext>
              </a:extLst>
            </p:cNvPr>
            <p:cNvSpPr txBox="1"/>
            <p:nvPr/>
          </p:nvSpPr>
          <p:spPr>
            <a:xfrm>
              <a:off x="24829419" y="30525585"/>
              <a:ext cx="2931863" cy="461665"/>
            </a:xfrm>
            <a:prstGeom prst="rect">
              <a:avLst/>
            </a:prstGeom>
            <a:noFill/>
            <a:ln w="28575">
              <a:solidFill>
                <a:schemeClr val="bg1"/>
              </a:solidFill>
            </a:ln>
          </p:spPr>
          <p:txBody>
            <a:bodyPr wrap="square" rtlCol="0">
              <a:spAutoFit/>
            </a:bodyPr>
            <a:lstStyle/>
            <a:p>
              <a:pPr algn="ctr"/>
              <a:r>
                <a:rPr lang="fr-FR" sz="2400" dirty="0">
                  <a:latin typeface="Brix Slab Light" panose="02000000000000000000" pitchFamily="50" charset="0"/>
                </a:rPr>
                <a:t>HbaA1c (%)</a:t>
              </a:r>
            </a:p>
          </p:txBody>
        </p:sp>
        <p:sp>
          <p:nvSpPr>
            <p:cNvPr id="14" name="ZoneTexte 13">
              <a:extLst>
                <a:ext uri="{FF2B5EF4-FFF2-40B4-BE49-F238E27FC236}">
                  <a16:creationId xmlns:a16="http://schemas.microsoft.com/office/drawing/2014/main" id="{C2D64688-D7CB-1F60-990C-ED60941633CC}"/>
                </a:ext>
              </a:extLst>
            </p:cNvPr>
            <p:cNvSpPr txBox="1"/>
            <p:nvPr/>
          </p:nvSpPr>
          <p:spPr>
            <a:xfrm>
              <a:off x="19246393" y="30529863"/>
              <a:ext cx="2931863" cy="461665"/>
            </a:xfrm>
            <a:prstGeom prst="rect">
              <a:avLst/>
            </a:prstGeom>
            <a:noFill/>
            <a:ln w="28575">
              <a:solidFill>
                <a:schemeClr val="bg1"/>
              </a:solidFill>
            </a:ln>
          </p:spPr>
          <p:txBody>
            <a:bodyPr wrap="square" rtlCol="0">
              <a:spAutoFit/>
            </a:bodyPr>
            <a:lstStyle/>
            <a:p>
              <a:pPr algn="ctr"/>
              <a:r>
                <a:rPr lang="fr-FR" sz="2400" dirty="0">
                  <a:latin typeface="Brix Slab Light" panose="02000000000000000000" pitchFamily="50" charset="0"/>
                </a:rPr>
                <a:t>Cholestérol (mg/dL) </a:t>
              </a:r>
            </a:p>
          </p:txBody>
        </p:sp>
        <p:sp>
          <p:nvSpPr>
            <p:cNvPr id="16" name="ZoneTexte 15">
              <a:extLst>
                <a:ext uri="{FF2B5EF4-FFF2-40B4-BE49-F238E27FC236}">
                  <a16:creationId xmlns:a16="http://schemas.microsoft.com/office/drawing/2014/main" id="{1CF2A0A5-74BB-4211-1E19-4C55925C4EBE}"/>
                </a:ext>
              </a:extLst>
            </p:cNvPr>
            <p:cNvSpPr txBox="1"/>
            <p:nvPr/>
          </p:nvSpPr>
          <p:spPr>
            <a:xfrm>
              <a:off x="13313627" y="30529863"/>
              <a:ext cx="3238695" cy="461665"/>
            </a:xfrm>
            <a:prstGeom prst="rect">
              <a:avLst/>
            </a:prstGeom>
            <a:noFill/>
            <a:ln w="28575">
              <a:solidFill>
                <a:schemeClr val="bg1"/>
              </a:solidFill>
            </a:ln>
          </p:spPr>
          <p:txBody>
            <a:bodyPr wrap="square" rtlCol="0">
              <a:spAutoFit/>
            </a:bodyPr>
            <a:lstStyle/>
            <a:p>
              <a:pPr algn="ctr"/>
              <a:r>
                <a:rPr lang="fr-FR" sz="2400" dirty="0">
                  <a:latin typeface="Brix Slab Light" panose="02000000000000000000" pitchFamily="50" charset="0"/>
                </a:rPr>
                <a:t>PA Systolique (mmHg)</a:t>
              </a:r>
            </a:p>
          </p:txBody>
        </p:sp>
        <p:cxnSp>
          <p:nvCxnSpPr>
            <p:cNvPr id="19" name="Connecteur droit 18">
              <a:extLst>
                <a:ext uri="{FF2B5EF4-FFF2-40B4-BE49-F238E27FC236}">
                  <a16:creationId xmlns:a16="http://schemas.microsoft.com/office/drawing/2014/main" id="{B65B78DF-1761-59C6-91C0-377D267B75BB}"/>
                </a:ext>
              </a:extLst>
            </p:cNvPr>
            <p:cNvCxnSpPr>
              <a:cxnSpLocks/>
            </p:cNvCxnSpPr>
            <p:nvPr/>
          </p:nvCxnSpPr>
          <p:spPr>
            <a:xfrm>
              <a:off x="14722145" y="26609675"/>
              <a:ext cx="0" cy="3546982"/>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95F68934-7CC2-3DD1-4588-1DF732640F9D}"/>
                </a:ext>
              </a:extLst>
            </p:cNvPr>
            <p:cNvCxnSpPr>
              <a:cxnSpLocks/>
            </p:cNvCxnSpPr>
            <p:nvPr/>
          </p:nvCxnSpPr>
          <p:spPr>
            <a:xfrm>
              <a:off x="21166403" y="21609050"/>
              <a:ext cx="0" cy="3579283"/>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9FE7B429-516A-6E1E-903E-EA693E9D2499}"/>
                </a:ext>
              </a:extLst>
            </p:cNvPr>
            <p:cNvCxnSpPr>
              <a:cxnSpLocks/>
            </p:cNvCxnSpPr>
            <p:nvPr/>
          </p:nvCxnSpPr>
          <p:spPr>
            <a:xfrm>
              <a:off x="20418262" y="26493788"/>
              <a:ext cx="0" cy="3683528"/>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166B6C51-7FAF-A0BF-2B3F-E3C5D74C2CB1}"/>
                </a:ext>
              </a:extLst>
            </p:cNvPr>
            <p:cNvCxnSpPr>
              <a:cxnSpLocks/>
            </p:cNvCxnSpPr>
            <p:nvPr/>
          </p:nvCxnSpPr>
          <p:spPr>
            <a:xfrm>
              <a:off x="25815762" y="21761450"/>
              <a:ext cx="0" cy="3426883"/>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FD7720E7-9434-D591-E8D5-BE9536778A21}"/>
                </a:ext>
              </a:extLst>
            </p:cNvPr>
            <p:cNvCxnSpPr>
              <a:cxnSpLocks/>
            </p:cNvCxnSpPr>
            <p:nvPr/>
          </p:nvCxnSpPr>
          <p:spPr>
            <a:xfrm>
              <a:off x="14373062" y="23552150"/>
              <a:ext cx="0" cy="1636183"/>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69236143-5490-0D6B-CD82-FF9B9AAA6205}"/>
                </a:ext>
              </a:extLst>
            </p:cNvPr>
            <p:cNvCxnSpPr>
              <a:cxnSpLocks/>
            </p:cNvCxnSpPr>
            <p:nvPr/>
          </p:nvCxnSpPr>
          <p:spPr>
            <a:xfrm>
              <a:off x="25631758" y="27786013"/>
              <a:ext cx="0" cy="2391303"/>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AE797C3A-8873-1D52-3E5B-89C6FA2D6686}"/>
                </a:ext>
              </a:extLst>
            </p:cNvPr>
            <p:cNvCxnSpPr>
              <a:cxnSpLocks/>
            </p:cNvCxnSpPr>
            <p:nvPr/>
          </p:nvCxnSpPr>
          <p:spPr>
            <a:xfrm>
              <a:off x="14163088" y="22098000"/>
              <a:ext cx="0" cy="3090332"/>
            </a:xfrm>
            <a:prstGeom prst="line">
              <a:avLst/>
            </a:prstGeom>
            <a:ln w="12700">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68" name="ZoneTexte 67">
              <a:extLst>
                <a:ext uri="{FF2B5EF4-FFF2-40B4-BE49-F238E27FC236}">
                  <a16:creationId xmlns:a16="http://schemas.microsoft.com/office/drawing/2014/main" id="{5B1E6FED-DA3C-ABFC-C75F-E46A136D804D}"/>
                </a:ext>
              </a:extLst>
            </p:cNvPr>
            <p:cNvSpPr txBox="1"/>
            <p:nvPr/>
          </p:nvSpPr>
          <p:spPr>
            <a:xfrm>
              <a:off x="14608723" y="22958680"/>
              <a:ext cx="2931863" cy="461665"/>
            </a:xfrm>
            <a:prstGeom prst="rect">
              <a:avLst/>
            </a:prstGeom>
            <a:solidFill>
              <a:schemeClr val="bg1"/>
            </a:solidFill>
            <a:ln w="28575">
              <a:solidFill>
                <a:schemeClr val="bg1"/>
              </a:solidFill>
            </a:ln>
          </p:spPr>
          <p:txBody>
            <a:bodyPr wrap="square" rtlCol="0">
              <a:spAutoFit/>
            </a:bodyPr>
            <a:lstStyle/>
            <a:p>
              <a:pPr algn="ctr"/>
              <a:endParaRPr lang="fr-FR" sz="2400" dirty="0">
                <a:latin typeface="Brix Slab Light" panose="02000000000000000000" pitchFamily="50" charset="0"/>
              </a:endParaRPr>
            </a:p>
          </p:txBody>
        </p:sp>
        <p:sp>
          <p:nvSpPr>
            <p:cNvPr id="70" name="ZoneTexte 69">
              <a:extLst>
                <a:ext uri="{FF2B5EF4-FFF2-40B4-BE49-F238E27FC236}">
                  <a16:creationId xmlns:a16="http://schemas.microsoft.com/office/drawing/2014/main" id="{05ED83C4-4F28-1D15-F9B3-48DBBF40C761}"/>
                </a:ext>
              </a:extLst>
            </p:cNvPr>
            <p:cNvSpPr txBox="1"/>
            <p:nvPr/>
          </p:nvSpPr>
          <p:spPr>
            <a:xfrm>
              <a:off x="14471349" y="23206115"/>
              <a:ext cx="1927557" cy="461665"/>
            </a:xfrm>
            <a:prstGeom prst="rect">
              <a:avLst/>
            </a:prstGeom>
            <a:solidFill>
              <a:schemeClr val="bg1"/>
            </a:solidFill>
            <a:ln w="28575">
              <a:solidFill>
                <a:schemeClr val="bg1"/>
              </a:solidFill>
            </a:ln>
          </p:spPr>
          <p:txBody>
            <a:bodyPr wrap="square" rtlCol="0">
              <a:spAutoFit/>
            </a:bodyPr>
            <a:lstStyle/>
            <a:p>
              <a:pPr algn="ctr"/>
              <a:r>
                <a:rPr lang="fr-FR" sz="2400" dirty="0">
                  <a:solidFill>
                    <a:srgbClr val="FF0000"/>
                  </a:solidFill>
                  <a:latin typeface="Brix Slab Light" panose="02000000000000000000" pitchFamily="50" charset="0"/>
                </a:rPr>
                <a:t>123.4 md/dL*</a:t>
              </a:r>
            </a:p>
          </p:txBody>
        </p:sp>
        <p:sp>
          <p:nvSpPr>
            <p:cNvPr id="71" name="ZoneTexte 70">
              <a:extLst>
                <a:ext uri="{FF2B5EF4-FFF2-40B4-BE49-F238E27FC236}">
                  <a16:creationId xmlns:a16="http://schemas.microsoft.com/office/drawing/2014/main" id="{C6FB21C4-A4B1-21CF-2328-54196E836A7D}"/>
                </a:ext>
              </a:extLst>
            </p:cNvPr>
            <p:cNvSpPr txBox="1"/>
            <p:nvPr/>
          </p:nvSpPr>
          <p:spPr>
            <a:xfrm>
              <a:off x="14226225" y="21812513"/>
              <a:ext cx="2108481" cy="461665"/>
            </a:xfrm>
            <a:prstGeom prst="rect">
              <a:avLst/>
            </a:prstGeom>
            <a:solidFill>
              <a:schemeClr val="bg1"/>
            </a:solidFill>
            <a:ln w="28575">
              <a:solidFill>
                <a:schemeClr val="bg1"/>
              </a:solidFill>
            </a:ln>
          </p:spPr>
          <p:txBody>
            <a:bodyPr wrap="square" rtlCol="0">
              <a:spAutoFit/>
            </a:bodyPr>
            <a:lstStyle/>
            <a:p>
              <a:pPr algn="ctr"/>
              <a:r>
                <a:rPr lang="fr-FR" sz="2400" dirty="0">
                  <a:solidFill>
                    <a:schemeClr val="accent1">
                      <a:lumMod val="50000"/>
                    </a:schemeClr>
                  </a:solidFill>
                  <a:latin typeface="Brix Slab Light" panose="02000000000000000000" pitchFamily="50" charset="0"/>
                </a:rPr>
                <a:t>110.4 mg/dL*</a:t>
              </a:r>
            </a:p>
          </p:txBody>
        </p:sp>
        <p:sp>
          <p:nvSpPr>
            <p:cNvPr id="72" name="ZoneTexte 71">
              <a:extLst>
                <a:ext uri="{FF2B5EF4-FFF2-40B4-BE49-F238E27FC236}">
                  <a16:creationId xmlns:a16="http://schemas.microsoft.com/office/drawing/2014/main" id="{95824DCD-E791-C8B4-8AD4-3A1831FAC52E}"/>
                </a:ext>
              </a:extLst>
            </p:cNvPr>
            <p:cNvSpPr txBox="1"/>
            <p:nvPr/>
          </p:nvSpPr>
          <p:spPr>
            <a:xfrm>
              <a:off x="19914656" y="21341493"/>
              <a:ext cx="1132391" cy="461665"/>
            </a:xfrm>
            <a:prstGeom prst="rect">
              <a:avLst/>
            </a:prstGeom>
            <a:solidFill>
              <a:schemeClr val="bg1"/>
            </a:solidFill>
            <a:ln w="28575">
              <a:solidFill>
                <a:schemeClr val="bg1"/>
              </a:solidFill>
            </a:ln>
          </p:spPr>
          <p:txBody>
            <a:bodyPr wrap="square" rtlCol="0">
              <a:spAutoFit/>
            </a:bodyPr>
            <a:lstStyle/>
            <a:p>
              <a:pPr algn="ctr"/>
              <a:r>
                <a:rPr lang="fr-FR" sz="2400" dirty="0">
                  <a:solidFill>
                    <a:srgbClr val="FF0000"/>
                  </a:solidFill>
                  <a:latin typeface="Brix Slab Light" panose="02000000000000000000" pitchFamily="50" charset="0"/>
                </a:rPr>
                <a:t>94.9 %</a:t>
              </a:r>
            </a:p>
          </p:txBody>
        </p:sp>
        <p:sp>
          <p:nvSpPr>
            <p:cNvPr id="73" name="ZoneTexte 72">
              <a:extLst>
                <a:ext uri="{FF2B5EF4-FFF2-40B4-BE49-F238E27FC236}">
                  <a16:creationId xmlns:a16="http://schemas.microsoft.com/office/drawing/2014/main" id="{0C56B229-DA3A-52B2-E0EC-3EE434D159AC}"/>
                </a:ext>
              </a:extLst>
            </p:cNvPr>
            <p:cNvSpPr txBox="1"/>
            <p:nvPr/>
          </p:nvSpPr>
          <p:spPr>
            <a:xfrm>
              <a:off x="25965792" y="21461406"/>
              <a:ext cx="1795483" cy="461665"/>
            </a:xfrm>
            <a:prstGeom prst="rect">
              <a:avLst/>
            </a:prstGeom>
            <a:solidFill>
              <a:schemeClr val="bg1"/>
            </a:solidFill>
            <a:ln w="28575">
              <a:solidFill>
                <a:schemeClr val="bg1"/>
              </a:solidFill>
            </a:ln>
          </p:spPr>
          <p:txBody>
            <a:bodyPr wrap="square" rtlCol="0">
              <a:spAutoFit/>
            </a:bodyPr>
            <a:lstStyle/>
            <a:p>
              <a:pPr algn="ctr"/>
              <a:r>
                <a:rPr lang="fr-FR" sz="2400" dirty="0">
                  <a:solidFill>
                    <a:srgbClr val="FF0000"/>
                  </a:solidFill>
                  <a:latin typeface="Brix Slab Light" panose="02000000000000000000" pitchFamily="50" charset="0"/>
                </a:rPr>
                <a:t>176.8 mg/dL</a:t>
              </a:r>
            </a:p>
          </p:txBody>
        </p:sp>
        <p:sp>
          <p:nvSpPr>
            <p:cNvPr id="74" name="ZoneTexte 73">
              <a:extLst>
                <a:ext uri="{FF2B5EF4-FFF2-40B4-BE49-F238E27FC236}">
                  <a16:creationId xmlns:a16="http://schemas.microsoft.com/office/drawing/2014/main" id="{CF4F841D-1CBD-8C94-3703-21A5AF36E2DB}"/>
                </a:ext>
              </a:extLst>
            </p:cNvPr>
            <p:cNvSpPr txBox="1"/>
            <p:nvPr/>
          </p:nvSpPr>
          <p:spPr>
            <a:xfrm>
              <a:off x="20649429" y="26320094"/>
              <a:ext cx="1980499" cy="461665"/>
            </a:xfrm>
            <a:prstGeom prst="rect">
              <a:avLst/>
            </a:prstGeom>
            <a:solidFill>
              <a:schemeClr val="bg1"/>
            </a:solidFill>
            <a:ln w="28575">
              <a:solidFill>
                <a:schemeClr val="bg1"/>
              </a:solidFill>
            </a:ln>
          </p:spPr>
          <p:txBody>
            <a:bodyPr wrap="square" rtlCol="0">
              <a:spAutoFit/>
            </a:bodyPr>
            <a:lstStyle/>
            <a:p>
              <a:pPr algn="ctr"/>
              <a:r>
                <a:rPr lang="fr-FR" sz="2400" dirty="0">
                  <a:solidFill>
                    <a:srgbClr val="FF0000"/>
                  </a:solidFill>
                  <a:latin typeface="Brix Slab Light" panose="02000000000000000000" pitchFamily="50" charset="0"/>
                </a:rPr>
                <a:t>212.9 mg/dL</a:t>
              </a:r>
            </a:p>
          </p:txBody>
        </p:sp>
        <p:sp>
          <p:nvSpPr>
            <p:cNvPr id="75" name="ZoneTexte 74">
              <a:extLst>
                <a:ext uri="{FF2B5EF4-FFF2-40B4-BE49-F238E27FC236}">
                  <a16:creationId xmlns:a16="http://schemas.microsoft.com/office/drawing/2014/main" id="{F1F67BF6-9F01-01BB-3971-A918808F3927}"/>
                </a:ext>
              </a:extLst>
            </p:cNvPr>
            <p:cNvSpPr txBox="1"/>
            <p:nvPr/>
          </p:nvSpPr>
          <p:spPr>
            <a:xfrm>
              <a:off x="14994137" y="26363121"/>
              <a:ext cx="1916339" cy="461665"/>
            </a:xfrm>
            <a:prstGeom prst="rect">
              <a:avLst/>
            </a:prstGeom>
            <a:solidFill>
              <a:schemeClr val="bg1"/>
            </a:solidFill>
            <a:ln w="28575">
              <a:solidFill>
                <a:schemeClr val="bg1"/>
              </a:solidFill>
            </a:ln>
          </p:spPr>
          <p:txBody>
            <a:bodyPr wrap="square" rtlCol="0">
              <a:spAutoFit/>
            </a:bodyPr>
            <a:lstStyle/>
            <a:p>
              <a:pPr algn="ctr"/>
              <a:r>
                <a:rPr lang="fr-FR" sz="2400" dirty="0">
                  <a:solidFill>
                    <a:srgbClr val="FF0000"/>
                  </a:solidFill>
                  <a:latin typeface="Brix Slab Light" panose="02000000000000000000" pitchFamily="50" charset="0"/>
                </a:rPr>
                <a:t>140.2 mmHg</a:t>
              </a:r>
            </a:p>
          </p:txBody>
        </p:sp>
        <p:sp>
          <p:nvSpPr>
            <p:cNvPr id="76" name="ZoneTexte 75">
              <a:extLst>
                <a:ext uri="{FF2B5EF4-FFF2-40B4-BE49-F238E27FC236}">
                  <a16:creationId xmlns:a16="http://schemas.microsoft.com/office/drawing/2014/main" id="{A6C31534-FE02-3408-41E6-133A93C8A1D1}"/>
                </a:ext>
              </a:extLst>
            </p:cNvPr>
            <p:cNvSpPr txBox="1"/>
            <p:nvPr/>
          </p:nvSpPr>
          <p:spPr>
            <a:xfrm>
              <a:off x="25650808" y="27259905"/>
              <a:ext cx="983523" cy="461665"/>
            </a:xfrm>
            <a:prstGeom prst="rect">
              <a:avLst/>
            </a:prstGeom>
            <a:solidFill>
              <a:schemeClr val="bg1"/>
            </a:solidFill>
            <a:ln w="28575">
              <a:solidFill>
                <a:schemeClr val="bg1"/>
              </a:solidFill>
            </a:ln>
          </p:spPr>
          <p:txBody>
            <a:bodyPr wrap="square" rtlCol="0">
              <a:spAutoFit/>
            </a:bodyPr>
            <a:lstStyle/>
            <a:p>
              <a:pPr algn="ctr"/>
              <a:r>
                <a:rPr lang="fr-FR" sz="2400" dirty="0">
                  <a:solidFill>
                    <a:srgbClr val="FF0000"/>
                  </a:solidFill>
                  <a:latin typeface="Brix Slab Light" panose="02000000000000000000" pitchFamily="50" charset="0"/>
                </a:rPr>
                <a:t>6.3 % </a:t>
              </a:r>
            </a:p>
          </p:txBody>
        </p:sp>
        <p:cxnSp>
          <p:nvCxnSpPr>
            <p:cNvPr id="101" name="Connecteur droit 100">
              <a:extLst>
                <a:ext uri="{FF2B5EF4-FFF2-40B4-BE49-F238E27FC236}">
                  <a16:creationId xmlns:a16="http://schemas.microsoft.com/office/drawing/2014/main" id="{ECF6BA8F-6CE4-8095-4E51-AF3B5DB9ED6F}"/>
                </a:ext>
              </a:extLst>
            </p:cNvPr>
            <p:cNvCxnSpPr>
              <a:cxnSpLocks/>
            </p:cNvCxnSpPr>
            <p:nvPr/>
          </p:nvCxnSpPr>
          <p:spPr>
            <a:xfrm>
              <a:off x="25415204" y="27039888"/>
              <a:ext cx="0" cy="3137428"/>
            </a:xfrm>
            <a:prstGeom prst="line">
              <a:avLst/>
            </a:prstGeom>
            <a:ln w="12700">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3" name="ZoneTexte 102">
              <a:extLst>
                <a:ext uri="{FF2B5EF4-FFF2-40B4-BE49-F238E27FC236}">
                  <a16:creationId xmlns:a16="http://schemas.microsoft.com/office/drawing/2014/main" id="{D7F796A5-0E15-269E-FC4F-805941E717F8}"/>
                </a:ext>
              </a:extLst>
            </p:cNvPr>
            <p:cNvSpPr txBox="1"/>
            <p:nvPr/>
          </p:nvSpPr>
          <p:spPr>
            <a:xfrm>
              <a:off x="25487573" y="26575989"/>
              <a:ext cx="983523" cy="461665"/>
            </a:xfrm>
            <a:prstGeom prst="rect">
              <a:avLst/>
            </a:prstGeom>
            <a:solidFill>
              <a:schemeClr val="bg1"/>
            </a:solidFill>
            <a:ln w="28575">
              <a:solidFill>
                <a:schemeClr val="bg1"/>
              </a:solidFill>
            </a:ln>
          </p:spPr>
          <p:txBody>
            <a:bodyPr wrap="square" rtlCol="0">
              <a:spAutoFit/>
            </a:bodyPr>
            <a:lstStyle/>
            <a:p>
              <a:pPr algn="ctr"/>
              <a:r>
                <a:rPr lang="fr-FR" sz="2400" dirty="0">
                  <a:solidFill>
                    <a:schemeClr val="accent1">
                      <a:lumMod val="50000"/>
                    </a:schemeClr>
                  </a:solidFill>
                  <a:latin typeface="Brix Slab Light" panose="02000000000000000000" pitchFamily="50" charset="0"/>
                </a:rPr>
                <a:t>5.9 %</a:t>
              </a:r>
            </a:p>
          </p:txBody>
        </p:sp>
      </p:grpSp>
      <p:pic>
        <p:nvPicPr>
          <p:cNvPr id="105" name="Image 104">
            <a:extLst>
              <a:ext uri="{FF2B5EF4-FFF2-40B4-BE49-F238E27FC236}">
                <a16:creationId xmlns:a16="http://schemas.microsoft.com/office/drawing/2014/main" id="{CD121375-7D07-A983-7C64-AB3836CCB808}"/>
              </a:ext>
            </a:extLst>
          </p:cNvPr>
          <p:cNvPicPr>
            <a:picLocks noChangeAspect="1"/>
          </p:cNvPicPr>
          <p:nvPr/>
        </p:nvPicPr>
        <p:blipFill>
          <a:blip r:embed="rId15"/>
          <a:stretch>
            <a:fillRect/>
          </a:stretch>
        </p:blipFill>
        <p:spPr>
          <a:xfrm>
            <a:off x="7707575" y="36894271"/>
            <a:ext cx="3193718" cy="5491842"/>
          </a:xfrm>
          <a:prstGeom prst="rect">
            <a:avLst/>
          </a:prstGeom>
        </p:spPr>
      </p:pic>
      <p:grpSp>
        <p:nvGrpSpPr>
          <p:cNvPr id="106" name="Groupe 105">
            <a:extLst>
              <a:ext uri="{FF2B5EF4-FFF2-40B4-BE49-F238E27FC236}">
                <a16:creationId xmlns:a16="http://schemas.microsoft.com/office/drawing/2014/main" id="{3794EFCB-D0E1-4950-619C-701C0775665F}"/>
              </a:ext>
            </a:extLst>
          </p:cNvPr>
          <p:cNvGrpSpPr/>
          <p:nvPr/>
        </p:nvGrpSpPr>
        <p:grpSpPr>
          <a:xfrm>
            <a:off x="3389544" y="32492908"/>
            <a:ext cx="2088000" cy="918000"/>
            <a:chOff x="10490199" y="25209500"/>
            <a:chExt cx="4940301" cy="917575"/>
          </a:xfrm>
        </p:grpSpPr>
        <p:sp>
          <p:nvSpPr>
            <p:cNvPr id="107" name="Rectangle 106">
              <a:extLst>
                <a:ext uri="{FF2B5EF4-FFF2-40B4-BE49-F238E27FC236}">
                  <a16:creationId xmlns:a16="http://schemas.microsoft.com/office/drawing/2014/main" id="{C403D29A-CE68-615C-BB79-DEDF0DA77DC9}"/>
                </a:ext>
              </a:extLst>
            </p:cNvPr>
            <p:cNvSpPr/>
            <p:nvPr/>
          </p:nvSpPr>
          <p:spPr>
            <a:xfrm>
              <a:off x="10490199" y="25209500"/>
              <a:ext cx="4940301" cy="917575"/>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ZoneTexte 107">
              <a:extLst>
                <a:ext uri="{FF2B5EF4-FFF2-40B4-BE49-F238E27FC236}">
                  <a16:creationId xmlns:a16="http://schemas.microsoft.com/office/drawing/2014/main" id="{A072B531-C860-7C52-B861-D00F236F01C3}"/>
                </a:ext>
              </a:extLst>
            </p:cNvPr>
            <p:cNvSpPr txBox="1"/>
            <p:nvPr/>
          </p:nvSpPr>
          <p:spPr>
            <a:xfrm>
              <a:off x="10692068" y="25308781"/>
              <a:ext cx="4511403" cy="731025"/>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IMC</a:t>
              </a:r>
            </a:p>
          </p:txBody>
        </p:sp>
      </p:grpSp>
      <p:grpSp>
        <p:nvGrpSpPr>
          <p:cNvPr id="109" name="Groupe 108">
            <a:extLst>
              <a:ext uri="{FF2B5EF4-FFF2-40B4-BE49-F238E27FC236}">
                <a16:creationId xmlns:a16="http://schemas.microsoft.com/office/drawing/2014/main" id="{E2134254-1CF2-D067-16C7-A3BA76C288C2}"/>
              </a:ext>
            </a:extLst>
          </p:cNvPr>
          <p:cNvGrpSpPr/>
          <p:nvPr/>
        </p:nvGrpSpPr>
        <p:grpSpPr>
          <a:xfrm>
            <a:off x="11843825" y="32492908"/>
            <a:ext cx="2640522" cy="918000"/>
            <a:chOff x="10490199" y="25209500"/>
            <a:chExt cx="4940301" cy="917575"/>
          </a:xfrm>
        </p:grpSpPr>
        <p:sp>
          <p:nvSpPr>
            <p:cNvPr id="110" name="Rectangle 109">
              <a:extLst>
                <a:ext uri="{FF2B5EF4-FFF2-40B4-BE49-F238E27FC236}">
                  <a16:creationId xmlns:a16="http://schemas.microsoft.com/office/drawing/2014/main" id="{A585244C-214B-8848-222A-3C9D6DDA4799}"/>
                </a:ext>
              </a:extLst>
            </p:cNvPr>
            <p:cNvSpPr/>
            <p:nvPr/>
          </p:nvSpPr>
          <p:spPr>
            <a:xfrm>
              <a:off x="10490199" y="25209500"/>
              <a:ext cx="4940301" cy="917575"/>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ZoneTexte 110">
              <a:extLst>
                <a:ext uri="{FF2B5EF4-FFF2-40B4-BE49-F238E27FC236}">
                  <a16:creationId xmlns:a16="http://schemas.microsoft.com/office/drawing/2014/main" id="{90BA3844-4367-0BDB-0CD2-DDBED6BD92F6}"/>
                </a:ext>
              </a:extLst>
            </p:cNvPr>
            <p:cNvSpPr txBox="1"/>
            <p:nvPr/>
          </p:nvSpPr>
          <p:spPr>
            <a:xfrm>
              <a:off x="10649758" y="25308781"/>
              <a:ext cx="4619166" cy="707558"/>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Sommeil</a:t>
              </a:r>
            </a:p>
          </p:txBody>
        </p:sp>
      </p:grpSp>
      <p:grpSp>
        <p:nvGrpSpPr>
          <p:cNvPr id="112" name="Groupe 111">
            <a:extLst>
              <a:ext uri="{FF2B5EF4-FFF2-40B4-BE49-F238E27FC236}">
                <a16:creationId xmlns:a16="http://schemas.microsoft.com/office/drawing/2014/main" id="{6F671063-D6B4-EE76-AAB4-98C7BB4A344B}"/>
              </a:ext>
            </a:extLst>
          </p:cNvPr>
          <p:cNvGrpSpPr/>
          <p:nvPr/>
        </p:nvGrpSpPr>
        <p:grpSpPr>
          <a:xfrm>
            <a:off x="16295686" y="36384135"/>
            <a:ext cx="4353743" cy="918000"/>
            <a:chOff x="10490199" y="25209500"/>
            <a:chExt cx="4940301" cy="917575"/>
          </a:xfrm>
        </p:grpSpPr>
        <p:sp>
          <p:nvSpPr>
            <p:cNvPr id="113" name="Rectangle 112">
              <a:extLst>
                <a:ext uri="{FF2B5EF4-FFF2-40B4-BE49-F238E27FC236}">
                  <a16:creationId xmlns:a16="http://schemas.microsoft.com/office/drawing/2014/main" id="{490B15B6-3B25-07E9-CC88-B240EA827723}"/>
                </a:ext>
              </a:extLst>
            </p:cNvPr>
            <p:cNvSpPr/>
            <p:nvPr/>
          </p:nvSpPr>
          <p:spPr>
            <a:xfrm>
              <a:off x="10490199" y="25209500"/>
              <a:ext cx="4940301" cy="917575"/>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ZoneTexte 113">
              <a:extLst>
                <a:ext uri="{FF2B5EF4-FFF2-40B4-BE49-F238E27FC236}">
                  <a16:creationId xmlns:a16="http://schemas.microsoft.com/office/drawing/2014/main" id="{7CE3E401-A4F1-D703-8D32-84DB990C13F9}"/>
                </a:ext>
              </a:extLst>
            </p:cNvPr>
            <p:cNvSpPr txBox="1"/>
            <p:nvPr/>
          </p:nvSpPr>
          <p:spPr>
            <a:xfrm>
              <a:off x="10615554" y="25308776"/>
              <a:ext cx="4678774" cy="707558"/>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Activité Physique</a:t>
              </a:r>
            </a:p>
          </p:txBody>
        </p:sp>
      </p:grpSp>
      <p:grpSp>
        <p:nvGrpSpPr>
          <p:cNvPr id="115" name="Groupe 114">
            <a:extLst>
              <a:ext uri="{FF2B5EF4-FFF2-40B4-BE49-F238E27FC236}">
                <a16:creationId xmlns:a16="http://schemas.microsoft.com/office/drawing/2014/main" id="{6CD64141-7F1A-FFE9-4681-85EA0B24AF42}"/>
              </a:ext>
            </a:extLst>
          </p:cNvPr>
          <p:cNvGrpSpPr/>
          <p:nvPr/>
        </p:nvGrpSpPr>
        <p:grpSpPr>
          <a:xfrm>
            <a:off x="20418262" y="32504313"/>
            <a:ext cx="5629889" cy="918000"/>
            <a:chOff x="10490199" y="25209500"/>
            <a:chExt cx="4940301" cy="917575"/>
          </a:xfrm>
        </p:grpSpPr>
        <p:sp>
          <p:nvSpPr>
            <p:cNvPr id="116" name="Rectangle 115">
              <a:extLst>
                <a:ext uri="{FF2B5EF4-FFF2-40B4-BE49-F238E27FC236}">
                  <a16:creationId xmlns:a16="http://schemas.microsoft.com/office/drawing/2014/main" id="{ECD4860C-2D23-6B37-2E29-39E90541C33B}"/>
                </a:ext>
              </a:extLst>
            </p:cNvPr>
            <p:cNvSpPr/>
            <p:nvPr/>
          </p:nvSpPr>
          <p:spPr>
            <a:xfrm>
              <a:off x="10490199" y="25209500"/>
              <a:ext cx="4940301" cy="917575"/>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ZoneTexte 116">
              <a:extLst>
                <a:ext uri="{FF2B5EF4-FFF2-40B4-BE49-F238E27FC236}">
                  <a16:creationId xmlns:a16="http://schemas.microsoft.com/office/drawing/2014/main" id="{AD85167C-7FA4-CCD2-A204-26C14930265B}"/>
                </a:ext>
              </a:extLst>
            </p:cNvPr>
            <p:cNvSpPr txBox="1"/>
            <p:nvPr/>
          </p:nvSpPr>
          <p:spPr>
            <a:xfrm>
              <a:off x="10568749" y="25308781"/>
              <a:ext cx="4783740" cy="707558"/>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Consommation d’alcool</a:t>
              </a:r>
            </a:p>
          </p:txBody>
        </p:sp>
      </p:grpSp>
      <p:grpSp>
        <p:nvGrpSpPr>
          <p:cNvPr id="118" name="Groupe 117">
            <a:extLst>
              <a:ext uri="{FF2B5EF4-FFF2-40B4-BE49-F238E27FC236}">
                <a16:creationId xmlns:a16="http://schemas.microsoft.com/office/drawing/2014/main" id="{DD405A16-148A-C233-8618-A8241CEF10D5}"/>
              </a:ext>
            </a:extLst>
          </p:cNvPr>
          <p:cNvGrpSpPr/>
          <p:nvPr/>
        </p:nvGrpSpPr>
        <p:grpSpPr>
          <a:xfrm>
            <a:off x="25381045" y="36404941"/>
            <a:ext cx="2964975" cy="918000"/>
            <a:chOff x="10490199" y="25209500"/>
            <a:chExt cx="4940301" cy="917575"/>
          </a:xfrm>
        </p:grpSpPr>
        <p:sp>
          <p:nvSpPr>
            <p:cNvPr id="119" name="Rectangle 118">
              <a:extLst>
                <a:ext uri="{FF2B5EF4-FFF2-40B4-BE49-F238E27FC236}">
                  <a16:creationId xmlns:a16="http://schemas.microsoft.com/office/drawing/2014/main" id="{014EBA8E-84E8-4395-2D6B-030D4FEE2F1F}"/>
                </a:ext>
              </a:extLst>
            </p:cNvPr>
            <p:cNvSpPr/>
            <p:nvPr/>
          </p:nvSpPr>
          <p:spPr>
            <a:xfrm>
              <a:off x="10490199" y="25209500"/>
              <a:ext cx="4940301" cy="917575"/>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ZoneTexte 119">
              <a:extLst>
                <a:ext uri="{FF2B5EF4-FFF2-40B4-BE49-F238E27FC236}">
                  <a16:creationId xmlns:a16="http://schemas.microsoft.com/office/drawing/2014/main" id="{77D3CFCF-62BD-65AD-0A30-CE31E94E0D10}"/>
                </a:ext>
              </a:extLst>
            </p:cNvPr>
            <p:cNvSpPr txBox="1"/>
            <p:nvPr/>
          </p:nvSpPr>
          <p:spPr>
            <a:xfrm>
              <a:off x="10653395" y="25308781"/>
              <a:ext cx="4621561" cy="707558"/>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Tabagisme</a:t>
              </a:r>
            </a:p>
          </p:txBody>
        </p:sp>
      </p:grpSp>
      <p:grpSp>
        <p:nvGrpSpPr>
          <p:cNvPr id="121" name="Groupe 120">
            <a:extLst>
              <a:ext uri="{FF2B5EF4-FFF2-40B4-BE49-F238E27FC236}">
                <a16:creationId xmlns:a16="http://schemas.microsoft.com/office/drawing/2014/main" id="{1725CD8B-4111-3993-2BF5-6E5F7AA70A32}"/>
              </a:ext>
            </a:extLst>
          </p:cNvPr>
          <p:cNvGrpSpPr/>
          <p:nvPr/>
        </p:nvGrpSpPr>
        <p:grpSpPr>
          <a:xfrm>
            <a:off x="3554555" y="37829143"/>
            <a:ext cx="3318012" cy="918000"/>
            <a:chOff x="10490199" y="25209500"/>
            <a:chExt cx="4940301" cy="917575"/>
          </a:xfrm>
        </p:grpSpPr>
        <p:sp>
          <p:nvSpPr>
            <p:cNvPr id="122" name="Rectangle 121">
              <a:extLst>
                <a:ext uri="{FF2B5EF4-FFF2-40B4-BE49-F238E27FC236}">
                  <a16:creationId xmlns:a16="http://schemas.microsoft.com/office/drawing/2014/main" id="{2AE06536-577D-10C8-F6D1-2FD8CD07114A}"/>
                </a:ext>
              </a:extLst>
            </p:cNvPr>
            <p:cNvSpPr/>
            <p:nvPr/>
          </p:nvSpPr>
          <p:spPr>
            <a:xfrm>
              <a:off x="10490199" y="25209500"/>
              <a:ext cx="4940301" cy="917575"/>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ZoneTexte 122">
              <a:extLst>
                <a:ext uri="{FF2B5EF4-FFF2-40B4-BE49-F238E27FC236}">
                  <a16:creationId xmlns:a16="http://schemas.microsoft.com/office/drawing/2014/main" id="{F3BE6925-7A63-1BD2-E40B-A93DE3701558}"/>
                </a:ext>
              </a:extLst>
            </p:cNvPr>
            <p:cNvSpPr txBox="1"/>
            <p:nvPr/>
          </p:nvSpPr>
          <p:spPr>
            <a:xfrm>
              <a:off x="10614888" y="25308781"/>
              <a:ext cx="4689547" cy="707558"/>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Alimentation</a:t>
              </a:r>
            </a:p>
          </p:txBody>
        </p:sp>
      </p:grpSp>
      <p:sp>
        <p:nvSpPr>
          <p:cNvPr id="124" name="ZoneTexte 123">
            <a:extLst>
              <a:ext uri="{FF2B5EF4-FFF2-40B4-BE49-F238E27FC236}">
                <a16:creationId xmlns:a16="http://schemas.microsoft.com/office/drawing/2014/main" id="{C5CCF925-7B87-1528-B210-73BE18DF1BCA}"/>
              </a:ext>
            </a:extLst>
          </p:cNvPr>
          <p:cNvSpPr txBox="1"/>
          <p:nvPr/>
        </p:nvSpPr>
        <p:spPr>
          <a:xfrm>
            <a:off x="15952306" y="37537924"/>
            <a:ext cx="5473700" cy="369332"/>
          </a:xfrm>
          <a:prstGeom prst="rect">
            <a:avLst/>
          </a:prstGeom>
          <a:noFill/>
        </p:spPr>
        <p:txBody>
          <a:bodyPr wrap="square" rtlCol="0">
            <a:spAutoFit/>
          </a:bodyPr>
          <a:lstStyle/>
          <a:p>
            <a:r>
              <a:rPr lang="fr-FR" b="1" i="1" dirty="0">
                <a:latin typeface="Brix Slab Light" panose="02000000000000000000" pitchFamily="50" charset="0"/>
              </a:rPr>
              <a:t>Nombre auto-rapporté d’heures d’AP par semaine</a:t>
            </a:r>
          </a:p>
        </p:txBody>
      </p:sp>
      <p:sp>
        <p:nvSpPr>
          <p:cNvPr id="125" name="ZoneTexte 124">
            <a:extLst>
              <a:ext uri="{FF2B5EF4-FFF2-40B4-BE49-F238E27FC236}">
                <a16:creationId xmlns:a16="http://schemas.microsoft.com/office/drawing/2014/main" id="{F66ACEDD-0819-0C83-F529-6280B862F708}"/>
              </a:ext>
            </a:extLst>
          </p:cNvPr>
          <p:cNvSpPr txBox="1"/>
          <p:nvPr/>
        </p:nvSpPr>
        <p:spPr>
          <a:xfrm>
            <a:off x="25308018" y="37537924"/>
            <a:ext cx="3339050" cy="369332"/>
          </a:xfrm>
          <a:prstGeom prst="rect">
            <a:avLst/>
          </a:prstGeom>
          <a:noFill/>
        </p:spPr>
        <p:txBody>
          <a:bodyPr wrap="square" rtlCol="0">
            <a:spAutoFit/>
          </a:bodyPr>
          <a:lstStyle/>
          <a:p>
            <a:r>
              <a:rPr lang="fr-FR" b="1" i="1" dirty="0">
                <a:latin typeface="Brix Slab Light" panose="02000000000000000000" pitchFamily="50" charset="0"/>
              </a:rPr>
              <a:t>0 = Non-fumeur ; 1 = Fumeur</a:t>
            </a:r>
          </a:p>
        </p:txBody>
      </p:sp>
      <p:sp>
        <p:nvSpPr>
          <p:cNvPr id="126" name="ZoneTexte 125">
            <a:extLst>
              <a:ext uri="{FF2B5EF4-FFF2-40B4-BE49-F238E27FC236}">
                <a16:creationId xmlns:a16="http://schemas.microsoft.com/office/drawing/2014/main" id="{008EC852-CD12-5238-03DE-444D1BB16F78}"/>
              </a:ext>
            </a:extLst>
          </p:cNvPr>
          <p:cNvSpPr txBox="1"/>
          <p:nvPr/>
        </p:nvSpPr>
        <p:spPr>
          <a:xfrm>
            <a:off x="20938457" y="33604967"/>
            <a:ext cx="4589498" cy="369332"/>
          </a:xfrm>
          <a:prstGeom prst="rect">
            <a:avLst/>
          </a:prstGeom>
          <a:noFill/>
        </p:spPr>
        <p:txBody>
          <a:bodyPr wrap="square" rtlCol="0">
            <a:spAutoFit/>
          </a:bodyPr>
          <a:lstStyle/>
          <a:p>
            <a:r>
              <a:rPr lang="fr-FR" b="1" i="1" dirty="0">
                <a:latin typeface="Brix Slab Light" panose="02000000000000000000" pitchFamily="50" charset="0"/>
              </a:rPr>
              <a:t>0 = Non consommateur ; 1 = Consommateur</a:t>
            </a:r>
          </a:p>
        </p:txBody>
      </p:sp>
      <p:sp>
        <p:nvSpPr>
          <p:cNvPr id="127" name="ZoneTexte 126">
            <a:extLst>
              <a:ext uri="{FF2B5EF4-FFF2-40B4-BE49-F238E27FC236}">
                <a16:creationId xmlns:a16="http://schemas.microsoft.com/office/drawing/2014/main" id="{C17818F9-DC4F-0E47-2A86-19B7DC363899}"/>
              </a:ext>
            </a:extLst>
          </p:cNvPr>
          <p:cNvSpPr txBox="1"/>
          <p:nvPr/>
        </p:nvSpPr>
        <p:spPr>
          <a:xfrm>
            <a:off x="10454312" y="33578971"/>
            <a:ext cx="5473700" cy="369332"/>
          </a:xfrm>
          <a:prstGeom prst="rect">
            <a:avLst/>
          </a:prstGeom>
          <a:noFill/>
        </p:spPr>
        <p:txBody>
          <a:bodyPr wrap="square" rtlCol="0">
            <a:spAutoFit/>
          </a:bodyPr>
          <a:lstStyle/>
          <a:p>
            <a:r>
              <a:rPr lang="fr-FR" b="1" i="1" dirty="0">
                <a:latin typeface="Brix Slab Light" panose="02000000000000000000" pitchFamily="50" charset="0"/>
              </a:rPr>
              <a:t>Nombre auto-rapporté d’heures de sommeil par jour</a:t>
            </a:r>
          </a:p>
        </p:txBody>
      </p:sp>
      <p:sp>
        <p:nvSpPr>
          <p:cNvPr id="1024" name="ZoneTexte 1023">
            <a:extLst>
              <a:ext uri="{FF2B5EF4-FFF2-40B4-BE49-F238E27FC236}">
                <a16:creationId xmlns:a16="http://schemas.microsoft.com/office/drawing/2014/main" id="{AE4EAA4D-3DB0-E9D2-0A4E-E974CA0C66C5}"/>
              </a:ext>
            </a:extLst>
          </p:cNvPr>
          <p:cNvSpPr txBox="1"/>
          <p:nvPr/>
        </p:nvSpPr>
        <p:spPr>
          <a:xfrm>
            <a:off x="3080085" y="38993861"/>
            <a:ext cx="4466122" cy="646331"/>
          </a:xfrm>
          <a:prstGeom prst="rect">
            <a:avLst/>
          </a:prstGeom>
          <a:noFill/>
        </p:spPr>
        <p:txBody>
          <a:bodyPr wrap="square" rtlCol="0">
            <a:spAutoFit/>
          </a:bodyPr>
          <a:lstStyle/>
          <a:p>
            <a:pPr algn="ctr"/>
            <a:r>
              <a:rPr lang="fr-FR" b="1" i="1" dirty="0">
                <a:latin typeface="Brix Slab Light" panose="02000000000000000000" pitchFamily="50" charset="0"/>
              </a:rPr>
              <a:t>Score auto-rapporté de la qualité générale </a:t>
            </a:r>
          </a:p>
          <a:p>
            <a:pPr algn="ctr"/>
            <a:r>
              <a:rPr lang="fr-FR" b="1" i="1" dirty="0">
                <a:latin typeface="Brix Slab Light" panose="02000000000000000000" pitchFamily="50" charset="0"/>
              </a:rPr>
              <a:t>de l’alimentation  </a:t>
            </a:r>
          </a:p>
        </p:txBody>
      </p:sp>
      <p:pic>
        <p:nvPicPr>
          <p:cNvPr id="23" name="Image 22">
            <a:extLst>
              <a:ext uri="{FF2B5EF4-FFF2-40B4-BE49-F238E27FC236}">
                <a16:creationId xmlns:a16="http://schemas.microsoft.com/office/drawing/2014/main" id="{52C2FF8D-7B16-990A-F7B6-7F7A30021696}"/>
              </a:ext>
            </a:extLst>
          </p:cNvPr>
          <p:cNvPicPr>
            <a:picLocks noChangeAspect="1"/>
          </p:cNvPicPr>
          <p:nvPr/>
        </p:nvPicPr>
        <p:blipFill>
          <a:blip r:embed="rId16"/>
          <a:stretch>
            <a:fillRect/>
          </a:stretch>
        </p:blipFill>
        <p:spPr>
          <a:xfrm>
            <a:off x="2523574" y="20925239"/>
            <a:ext cx="4720580" cy="3885080"/>
          </a:xfrm>
          <a:prstGeom prst="rect">
            <a:avLst/>
          </a:prstGeom>
        </p:spPr>
      </p:pic>
      <p:sp>
        <p:nvSpPr>
          <p:cNvPr id="27" name="ZoneTexte 26">
            <a:extLst>
              <a:ext uri="{FF2B5EF4-FFF2-40B4-BE49-F238E27FC236}">
                <a16:creationId xmlns:a16="http://schemas.microsoft.com/office/drawing/2014/main" id="{188A9579-D681-D112-46C3-42D53173F9D3}"/>
              </a:ext>
            </a:extLst>
          </p:cNvPr>
          <p:cNvSpPr txBox="1"/>
          <p:nvPr/>
        </p:nvSpPr>
        <p:spPr>
          <a:xfrm>
            <a:off x="651916" y="42201447"/>
            <a:ext cx="3022717" cy="369332"/>
          </a:xfrm>
          <a:prstGeom prst="rect">
            <a:avLst/>
          </a:prstGeom>
          <a:noFill/>
        </p:spPr>
        <p:txBody>
          <a:bodyPr wrap="square">
            <a:spAutoFit/>
          </a:bodyPr>
          <a:lstStyle/>
          <a:p>
            <a:pPr algn="ctr"/>
            <a:r>
              <a:rPr lang="fr-FR" sz="1800" i="1" dirty="0">
                <a:latin typeface="Brix Slab Light" panose="02000000000000000000" pitchFamily="50" charset="0"/>
              </a:rPr>
              <a:t>Auteur : Youenn MARTIN	</a:t>
            </a:r>
          </a:p>
        </p:txBody>
      </p:sp>
    </p:spTree>
    <p:extLst>
      <p:ext uri="{BB962C8B-B14F-4D97-AF65-F5344CB8AC3E}">
        <p14:creationId xmlns:p14="http://schemas.microsoft.com/office/powerpoint/2010/main" val="2367844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F3405-D417-51A6-6C20-48E9342D26E1}"/>
            </a:ext>
          </a:extLst>
        </p:cNvPr>
        <p:cNvGrpSpPr/>
        <p:nvPr/>
      </p:nvGrpSpPr>
      <p:grpSpPr>
        <a:xfrm>
          <a:off x="0" y="0"/>
          <a:ext cx="0" cy="0"/>
          <a:chOff x="0" y="0"/>
          <a:chExt cx="0" cy="0"/>
        </a:xfrm>
      </p:grpSpPr>
      <p:sp>
        <p:nvSpPr>
          <p:cNvPr id="19" name="ZoneTexte 18">
            <a:extLst>
              <a:ext uri="{FF2B5EF4-FFF2-40B4-BE49-F238E27FC236}">
                <a16:creationId xmlns:a16="http://schemas.microsoft.com/office/drawing/2014/main" id="{B31B28B8-420F-6E17-EF3C-86DD9C7BB62F}"/>
              </a:ext>
            </a:extLst>
          </p:cNvPr>
          <p:cNvSpPr txBox="1"/>
          <p:nvPr/>
        </p:nvSpPr>
        <p:spPr>
          <a:xfrm>
            <a:off x="1077569" y="665805"/>
            <a:ext cx="28085143" cy="1015663"/>
          </a:xfrm>
          <a:prstGeom prst="rect">
            <a:avLst/>
          </a:prstGeom>
          <a:solidFill>
            <a:srgbClr val="718FC4"/>
          </a:solidFill>
        </p:spPr>
        <p:txBody>
          <a:bodyPr wrap="square" rtlCol="0">
            <a:spAutoFit/>
          </a:bodyPr>
          <a:lstStyle/>
          <a:p>
            <a:pPr algn="ctr"/>
            <a:r>
              <a:rPr lang="fr-FR" sz="6000" b="1" dirty="0">
                <a:solidFill>
                  <a:schemeClr val="bg1"/>
                </a:solidFill>
                <a:latin typeface="Brix Slab Light" panose="02000000000000000000" pitchFamily="50" charset="0"/>
              </a:rPr>
              <a:t>Définition des seuils de risque</a:t>
            </a:r>
          </a:p>
        </p:txBody>
      </p:sp>
      <p:sp>
        <p:nvSpPr>
          <p:cNvPr id="20" name="ZoneTexte 19">
            <a:extLst>
              <a:ext uri="{FF2B5EF4-FFF2-40B4-BE49-F238E27FC236}">
                <a16:creationId xmlns:a16="http://schemas.microsoft.com/office/drawing/2014/main" id="{F6C393B1-534E-B709-7709-4CCC0FD8E31C}"/>
              </a:ext>
            </a:extLst>
          </p:cNvPr>
          <p:cNvSpPr txBox="1"/>
          <p:nvPr/>
        </p:nvSpPr>
        <p:spPr>
          <a:xfrm>
            <a:off x="1077569" y="21542265"/>
            <a:ext cx="28085143" cy="1015663"/>
          </a:xfrm>
          <a:prstGeom prst="rect">
            <a:avLst/>
          </a:prstGeom>
          <a:solidFill>
            <a:srgbClr val="718FC4"/>
          </a:solidFill>
        </p:spPr>
        <p:txBody>
          <a:bodyPr wrap="square" rtlCol="0">
            <a:spAutoFit/>
          </a:bodyPr>
          <a:lstStyle/>
          <a:p>
            <a:pPr algn="ctr"/>
            <a:r>
              <a:rPr lang="fr-FR" sz="6000" b="1" dirty="0">
                <a:solidFill>
                  <a:schemeClr val="bg1"/>
                </a:solidFill>
                <a:latin typeface="Brix Slab Light" panose="02000000000000000000" pitchFamily="50" charset="0"/>
              </a:rPr>
              <a:t>Visualisation des proportions selon les seuils de risque</a:t>
            </a:r>
          </a:p>
        </p:txBody>
      </p:sp>
      <p:sp>
        <p:nvSpPr>
          <p:cNvPr id="2" name="Rectangle : avec coins arrondis en diagonale 1">
            <a:extLst>
              <a:ext uri="{FF2B5EF4-FFF2-40B4-BE49-F238E27FC236}">
                <a16:creationId xmlns:a16="http://schemas.microsoft.com/office/drawing/2014/main" id="{00B295C4-7B29-C0DA-1BB4-A37A80A39B4D}"/>
              </a:ext>
            </a:extLst>
          </p:cNvPr>
          <p:cNvSpPr/>
          <p:nvPr/>
        </p:nvSpPr>
        <p:spPr>
          <a:xfrm>
            <a:off x="1122019" y="2421164"/>
            <a:ext cx="28040693" cy="17162236"/>
          </a:xfrm>
          <a:prstGeom prst="round2DiagRect">
            <a:avLst>
              <a:gd name="adj1" fmla="val 6815"/>
              <a:gd name="adj2" fmla="val 7605"/>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 avec coins arrondis en diagonale 2">
            <a:extLst>
              <a:ext uri="{FF2B5EF4-FFF2-40B4-BE49-F238E27FC236}">
                <a16:creationId xmlns:a16="http://schemas.microsoft.com/office/drawing/2014/main" id="{D03981D4-1E9D-7130-3E23-2AA28E6CB66F}"/>
              </a:ext>
            </a:extLst>
          </p:cNvPr>
          <p:cNvSpPr/>
          <p:nvPr/>
        </p:nvSpPr>
        <p:spPr>
          <a:xfrm>
            <a:off x="1348167" y="2827564"/>
            <a:ext cx="27588783" cy="3344636"/>
          </a:xfrm>
          <a:prstGeom prst="round2DiagRect">
            <a:avLst>
              <a:gd name="adj1" fmla="val 38032"/>
              <a:gd name="adj2" fmla="val 33393"/>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62D9A6FD-9B5F-D88A-604D-E8FCAC6912A6}"/>
              </a:ext>
            </a:extLst>
          </p:cNvPr>
          <p:cNvSpPr txBox="1"/>
          <p:nvPr/>
        </p:nvSpPr>
        <p:spPr>
          <a:xfrm>
            <a:off x="1828800" y="3108388"/>
            <a:ext cx="26670000" cy="2800767"/>
          </a:xfrm>
          <a:prstGeom prst="rect">
            <a:avLst/>
          </a:prstGeom>
          <a:noFill/>
        </p:spPr>
        <p:txBody>
          <a:bodyPr wrap="square" rtlCol="0">
            <a:spAutoFit/>
          </a:bodyPr>
          <a:lstStyle/>
          <a:p>
            <a:pPr algn="just"/>
            <a:r>
              <a:rPr lang="fr-FR" sz="4400" b="1" dirty="0">
                <a:solidFill>
                  <a:schemeClr val="bg1"/>
                </a:solidFill>
                <a:latin typeface="Brix Slab Light" panose="02000000000000000000" pitchFamily="50" charset="0"/>
              </a:rPr>
              <a:t>Objectif</a:t>
            </a:r>
            <a:r>
              <a:rPr lang="fr-FR" sz="4400" dirty="0">
                <a:solidFill>
                  <a:schemeClr val="bg1"/>
                </a:solidFill>
                <a:latin typeface="Brix Slab Light" panose="02000000000000000000" pitchFamily="50" charset="0"/>
              </a:rPr>
              <a:t> : déterminer une valeur seuil pour chaque variable, de manière à discriminer les personnes en bonne santé de celles en mauvaise santé selon la valeur seuil choisie.</a:t>
            </a:r>
          </a:p>
          <a:p>
            <a:pPr algn="just"/>
            <a:r>
              <a:rPr lang="fr-FR" sz="4400" b="1" dirty="0">
                <a:solidFill>
                  <a:schemeClr val="bg1"/>
                </a:solidFill>
                <a:latin typeface="Brix Slab Light" panose="02000000000000000000" pitchFamily="50" charset="0"/>
              </a:rPr>
              <a:t>Méthode</a:t>
            </a:r>
            <a:r>
              <a:rPr lang="fr-FR" sz="4400" dirty="0">
                <a:solidFill>
                  <a:schemeClr val="bg1"/>
                </a:solidFill>
                <a:latin typeface="Brix Slab Light" panose="02000000000000000000" pitchFamily="50" charset="0"/>
              </a:rPr>
              <a:t> : sélectionner une valeur seuil pertinente d’un point de vue clinique (seuil clinique) et/ou statistique (top quantile), afin d’assurer la qualité de l’étude et l’homogénéisation des classes. </a:t>
            </a:r>
          </a:p>
        </p:txBody>
      </p:sp>
      <p:grpSp>
        <p:nvGrpSpPr>
          <p:cNvPr id="37" name="Groupe 36">
            <a:extLst>
              <a:ext uri="{FF2B5EF4-FFF2-40B4-BE49-F238E27FC236}">
                <a16:creationId xmlns:a16="http://schemas.microsoft.com/office/drawing/2014/main" id="{AF15A5FB-6661-6342-0630-5FA52C794524}"/>
              </a:ext>
            </a:extLst>
          </p:cNvPr>
          <p:cNvGrpSpPr/>
          <p:nvPr/>
        </p:nvGrpSpPr>
        <p:grpSpPr>
          <a:xfrm>
            <a:off x="16625888" y="7659705"/>
            <a:ext cx="12266233" cy="10134600"/>
            <a:chOff x="16625888" y="6648851"/>
            <a:chExt cx="12266233" cy="10134600"/>
          </a:xfrm>
        </p:grpSpPr>
        <p:sp>
          <p:nvSpPr>
            <p:cNvPr id="8" name="Rectangle : coins arrondis 7">
              <a:extLst>
                <a:ext uri="{FF2B5EF4-FFF2-40B4-BE49-F238E27FC236}">
                  <a16:creationId xmlns:a16="http://schemas.microsoft.com/office/drawing/2014/main" id="{D4B61100-C3DB-89ED-6807-8EC914598BEF}"/>
                </a:ext>
              </a:extLst>
            </p:cNvPr>
            <p:cNvSpPr/>
            <p:nvPr/>
          </p:nvSpPr>
          <p:spPr>
            <a:xfrm>
              <a:off x="16625888" y="6648851"/>
              <a:ext cx="12266233" cy="10134600"/>
            </a:xfrm>
            <a:prstGeom prst="roundRect">
              <a:avLst>
                <a:gd name="adj" fmla="val 9148"/>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DF7A7584-6B36-711B-3D96-BC514DD91A24}"/>
                </a:ext>
              </a:extLst>
            </p:cNvPr>
            <p:cNvSpPr txBox="1"/>
            <p:nvPr/>
          </p:nvSpPr>
          <p:spPr>
            <a:xfrm>
              <a:off x="16902094" y="8530843"/>
              <a:ext cx="11760200" cy="7416839"/>
            </a:xfrm>
            <a:prstGeom prst="rect">
              <a:avLst/>
            </a:prstGeom>
            <a:noFill/>
          </p:spPr>
          <p:txBody>
            <a:bodyPr wrap="square" rtlCol="0">
              <a:spAutoFit/>
            </a:bodyPr>
            <a:lstStyle/>
            <a:p>
              <a:pPr algn="just">
                <a:lnSpc>
                  <a:spcPct val="150000"/>
                </a:lnSpc>
              </a:pPr>
              <a:r>
                <a:rPr lang="fr-FR" sz="5400" b="1" dirty="0">
                  <a:solidFill>
                    <a:schemeClr val="bg1"/>
                  </a:solidFill>
                  <a:latin typeface="Brix Slab Light" panose="02000000000000000000" pitchFamily="50" charset="0"/>
                </a:rPr>
                <a:t>IMC : </a:t>
              </a:r>
              <a:r>
                <a:rPr lang="fr-FR" sz="5400" dirty="0">
                  <a:solidFill>
                    <a:schemeClr val="bg1"/>
                  </a:solidFill>
                  <a:latin typeface="Brix Slab Light" panose="02000000000000000000" pitchFamily="50" charset="0"/>
                </a:rPr>
                <a:t>18.5 ≤ IMC ≤ 25 </a:t>
              </a:r>
              <a:r>
                <a:rPr lang="fr-FR" sz="5400" baseline="80000" dirty="0">
                  <a:solidFill>
                    <a:schemeClr val="bg1"/>
                  </a:solidFill>
                  <a:latin typeface="Brix Slab Light" panose="02000000000000000000" pitchFamily="50" charset="0"/>
                </a:rPr>
                <a:t>a</a:t>
              </a:r>
            </a:p>
            <a:p>
              <a:pPr algn="just">
                <a:lnSpc>
                  <a:spcPct val="150000"/>
                </a:lnSpc>
              </a:pPr>
              <a:r>
                <a:rPr lang="fr-FR" sz="5400" b="1" dirty="0">
                  <a:solidFill>
                    <a:schemeClr val="bg1"/>
                  </a:solidFill>
                  <a:latin typeface="Brix Slab Light" panose="02000000000000000000" pitchFamily="50" charset="0"/>
                </a:rPr>
                <a:t>Alimentation : </a:t>
              </a:r>
              <a:r>
                <a:rPr lang="fr-FR" sz="5400" dirty="0">
                  <a:solidFill>
                    <a:schemeClr val="bg1"/>
                  </a:solidFill>
                  <a:latin typeface="Brix Slab Light" panose="02000000000000000000" pitchFamily="50" charset="0"/>
                </a:rPr>
                <a:t>Quartile le + bas</a:t>
              </a:r>
            </a:p>
            <a:p>
              <a:pPr algn="just">
                <a:lnSpc>
                  <a:spcPct val="150000"/>
                </a:lnSpc>
              </a:pPr>
              <a:r>
                <a:rPr lang="fr-FR" sz="5400" b="1" dirty="0">
                  <a:solidFill>
                    <a:schemeClr val="bg1"/>
                  </a:solidFill>
                  <a:latin typeface="Brix Slab Light" panose="02000000000000000000" pitchFamily="50" charset="0"/>
                </a:rPr>
                <a:t>Sommeil : </a:t>
              </a:r>
              <a:r>
                <a:rPr lang="fr-FR" sz="5400" dirty="0">
                  <a:solidFill>
                    <a:schemeClr val="bg1"/>
                  </a:solidFill>
                  <a:latin typeface="Brix Slab Light" panose="02000000000000000000" pitchFamily="50" charset="0"/>
                </a:rPr>
                <a:t>7 h/jour </a:t>
              </a:r>
              <a:r>
                <a:rPr lang="fr-FR" sz="5400" baseline="80000" dirty="0">
                  <a:solidFill>
                    <a:schemeClr val="bg1"/>
                  </a:solidFill>
                  <a:latin typeface="Brix Slab Light" panose="02000000000000000000" pitchFamily="50" charset="0"/>
                </a:rPr>
                <a:t>c</a:t>
              </a:r>
            </a:p>
            <a:p>
              <a:pPr algn="just">
                <a:lnSpc>
                  <a:spcPct val="150000"/>
                </a:lnSpc>
              </a:pPr>
              <a:r>
                <a:rPr lang="fr-FR" sz="5400" b="1" dirty="0">
                  <a:solidFill>
                    <a:schemeClr val="bg1"/>
                  </a:solidFill>
                  <a:latin typeface="Brix Slab Light" panose="02000000000000000000" pitchFamily="50" charset="0"/>
                </a:rPr>
                <a:t>Activité Physique : </a:t>
              </a:r>
              <a:r>
                <a:rPr lang="fr-FR" sz="5400" dirty="0">
                  <a:solidFill>
                    <a:schemeClr val="bg1"/>
                  </a:solidFill>
                  <a:latin typeface="Brix Slab Light" panose="02000000000000000000" pitchFamily="50" charset="0"/>
                </a:rPr>
                <a:t>150 min/sem </a:t>
              </a:r>
              <a:r>
                <a:rPr lang="fr-FR" sz="5400" baseline="80000" dirty="0">
                  <a:solidFill>
                    <a:schemeClr val="bg1"/>
                  </a:solidFill>
                  <a:latin typeface="Brix Slab Light" panose="02000000000000000000" pitchFamily="50" charset="0"/>
                </a:rPr>
                <a:t>a</a:t>
              </a:r>
            </a:p>
            <a:p>
              <a:pPr algn="just">
                <a:lnSpc>
                  <a:spcPct val="150000"/>
                </a:lnSpc>
              </a:pPr>
              <a:r>
                <a:rPr lang="fr-FR" sz="5400" b="1" dirty="0">
                  <a:solidFill>
                    <a:schemeClr val="bg1"/>
                  </a:solidFill>
                  <a:latin typeface="Brix Slab Light" panose="02000000000000000000" pitchFamily="50" charset="0"/>
                </a:rPr>
                <a:t>Consommation d’alcool : </a:t>
              </a:r>
              <a:r>
                <a:rPr lang="fr-FR" sz="5400" dirty="0">
                  <a:solidFill>
                    <a:schemeClr val="bg1"/>
                  </a:solidFill>
                  <a:latin typeface="Brix Slab Light" panose="02000000000000000000" pitchFamily="50" charset="0"/>
                </a:rPr>
                <a:t>Oui ou Non </a:t>
              </a:r>
            </a:p>
            <a:p>
              <a:pPr algn="just">
                <a:lnSpc>
                  <a:spcPct val="150000"/>
                </a:lnSpc>
              </a:pPr>
              <a:r>
                <a:rPr lang="fr-FR" sz="5400" b="1" dirty="0">
                  <a:solidFill>
                    <a:schemeClr val="bg1"/>
                  </a:solidFill>
                  <a:latin typeface="Brix Slab Light" panose="02000000000000000000" pitchFamily="50" charset="0"/>
                </a:rPr>
                <a:t>Tabagisme : </a:t>
              </a:r>
              <a:r>
                <a:rPr lang="fr-FR" sz="5400" dirty="0">
                  <a:solidFill>
                    <a:schemeClr val="bg1"/>
                  </a:solidFill>
                  <a:latin typeface="Brix Slab Light" panose="02000000000000000000" pitchFamily="50" charset="0"/>
                </a:rPr>
                <a:t>Oui ou Non</a:t>
              </a:r>
            </a:p>
          </p:txBody>
        </p:sp>
        <p:sp>
          <p:nvSpPr>
            <p:cNvPr id="21" name="Rectangle : coins arrondis 20">
              <a:extLst>
                <a:ext uri="{FF2B5EF4-FFF2-40B4-BE49-F238E27FC236}">
                  <a16:creationId xmlns:a16="http://schemas.microsoft.com/office/drawing/2014/main" id="{A0D50001-5455-DB1C-D105-3B5DF984CE0E}"/>
                </a:ext>
              </a:extLst>
            </p:cNvPr>
            <p:cNvSpPr/>
            <p:nvPr/>
          </p:nvSpPr>
          <p:spPr>
            <a:xfrm>
              <a:off x="16855713" y="6807201"/>
              <a:ext cx="11806581" cy="1290228"/>
            </a:xfrm>
            <a:prstGeom prst="roundRect">
              <a:avLst>
                <a:gd name="adj" fmla="val 50000"/>
              </a:avLst>
            </a:prstGeom>
            <a:solidFill>
              <a:srgbClr val="EF8D4B"/>
            </a:solidFill>
            <a:ln>
              <a:solidFill>
                <a:srgbClr val="EF8D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F3D4AA2A-A0CC-56FE-F21B-5C6137C225F4}"/>
                </a:ext>
              </a:extLst>
            </p:cNvPr>
            <p:cNvSpPr txBox="1"/>
            <p:nvPr/>
          </p:nvSpPr>
          <p:spPr>
            <a:xfrm>
              <a:off x="17117994" y="6944483"/>
              <a:ext cx="11328400" cy="1015663"/>
            </a:xfrm>
            <a:prstGeom prst="rect">
              <a:avLst/>
            </a:prstGeom>
            <a:noFill/>
          </p:spPr>
          <p:txBody>
            <a:bodyPr wrap="square" rtlCol="0">
              <a:spAutoFit/>
            </a:bodyPr>
            <a:lstStyle/>
            <a:p>
              <a:pPr algn="ctr"/>
              <a:r>
                <a:rPr lang="fr-FR" sz="5800" b="1" dirty="0">
                  <a:solidFill>
                    <a:schemeClr val="bg1"/>
                  </a:solidFill>
                  <a:latin typeface="Brix Slab Light" panose="02000000000000000000" pitchFamily="50" charset="0"/>
                </a:rPr>
                <a:t>Seuils – Mode de vie </a:t>
              </a:r>
            </a:p>
          </p:txBody>
        </p:sp>
      </p:grpSp>
      <p:grpSp>
        <p:nvGrpSpPr>
          <p:cNvPr id="36" name="Groupe 35">
            <a:extLst>
              <a:ext uri="{FF2B5EF4-FFF2-40B4-BE49-F238E27FC236}">
                <a16:creationId xmlns:a16="http://schemas.microsoft.com/office/drawing/2014/main" id="{1BBA359B-5D81-B8DA-0379-BDCBD4B951C7}"/>
              </a:ext>
            </a:extLst>
          </p:cNvPr>
          <p:cNvGrpSpPr/>
          <p:nvPr/>
        </p:nvGrpSpPr>
        <p:grpSpPr>
          <a:xfrm>
            <a:off x="1348167" y="7670714"/>
            <a:ext cx="12266233" cy="10134600"/>
            <a:chOff x="1348167" y="6648851"/>
            <a:chExt cx="12266233" cy="10134600"/>
          </a:xfrm>
        </p:grpSpPr>
        <p:sp>
          <p:nvSpPr>
            <p:cNvPr id="7" name="Rectangle : coins arrondis 6">
              <a:extLst>
                <a:ext uri="{FF2B5EF4-FFF2-40B4-BE49-F238E27FC236}">
                  <a16:creationId xmlns:a16="http://schemas.microsoft.com/office/drawing/2014/main" id="{1E19ECE9-B5B1-A56E-14CA-48D9F57640BD}"/>
                </a:ext>
              </a:extLst>
            </p:cNvPr>
            <p:cNvSpPr/>
            <p:nvPr/>
          </p:nvSpPr>
          <p:spPr>
            <a:xfrm>
              <a:off x="1348167" y="6648851"/>
              <a:ext cx="12266233" cy="10134600"/>
            </a:xfrm>
            <a:prstGeom prst="roundRect">
              <a:avLst>
                <a:gd name="adj" fmla="val 9148"/>
              </a:avLst>
            </a:prstGeom>
            <a:solidFill>
              <a:schemeClr val="accent4">
                <a:lumMod val="60000"/>
                <a:lumOff val="4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07BC6B0E-69E4-F731-CE47-E00A7992EF11}"/>
                </a:ext>
              </a:extLst>
            </p:cNvPr>
            <p:cNvSpPr txBox="1"/>
            <p:nvPr/>
          </p:nvSpPr>
          <p:spPr>
            <a:xfrm>
              <a:off x="1625600" y="8530843"/>
              <a:ext cx="11760200" cy="7416839"/>
            </a:xfrm>
            <a:prstGeom prst="rect">
              <a:avLst/>
            </a:prstGeom>
            <a:noFill/>
          </p:spPr>
          <p:txBody>
            <a:bodyPr wrap="square" rtlCol="0">
              <a:spAutoFit/>
            </a:bodyPr>
            <a:lstStyle/>
            <a:p>
              <a:pPr algn="just">
                <a:lnSpc>
                  <a:spcPct val="150000"/>
                </a:lnSpc>
              </a:pPr>
              <a:r>
                <a:rPr lang="fr-FR" sz="5400" b="1" dirty="0">
                  <a:solidFill>
                    <a:schemeClr val="bg1"/>
                  </a:solidFill>
                  <a:latin typeface="Brix Slab Light" panose="02000000000000000000" pitchFamily="50" charset="0"/>
                </a:rPr>
                <a:t>PA Systolique : </a:t>
              </a:r>
              <a:r>
                <a:rPr lang="fr-FR" sz="5400" dirty="0">
                  <a:solidFill>
                    <a:schemeClr val="bg1"/>
                  </a:solidFill>
                  <a:latin typeface="Brix Slab Light" panose="02000000000000000000" pitchFamily="50" charset="0"/>
                </a:rPr>
                <a:t>140 mmHg </a:t>
              </a:r>
              <a:r>
                <a:rPr lang="fr-FR" sz="5400" baseline="80000" dirty="0">
                  <a:solidFill>
                    <a:schemeClr val="bg1"/>
                  </a:solidFill>
                  <a:latin typeface="Brix Slab Light" panose="02000000000000000000" pitchFamily="50" charset="0"/>
                </a:rPr>
                <a:t>a</a:t>
              </a:r>
              <a:r>
                <a:rPr lang="fr-FR" sz="5400" dirty="0">
                  <a:solidFill>
                    <a:schemeClr val="bg1"/>
                  </a:solidFill>
                  <a:latin typeface="Brix Slab Light" panose="02000000000000000000" pitchFamily="50" charset="0"/>
                </a:rPr>
                <a:t> </a:t>
              </a:r>
            </a:p>
            <a:p>
              <a:pPr algn="just">
                <a:lnSpc>
                  <a:spcPct val="150000"/>
                </a:lnSpc>
              </a:pPr>
              <a:r>
                <a:rPr lang="fr-FR" sz="5400" b="1" dirty="0">
                  <a:solidFill>
                    <a:schemeClr val="bg1"/>
                  </a:solidFill>
                  <a:latin typeface="Brix Slab Light" panose="02000000000000000000" pitchFamily="50" charset="0"/>
                </a:rPr>
                <a:t>Glucose : 110 mg/dL </a:t>
              </a:r>
              <a:r>
                <a:rPr lang="fr-FR" sz="5400" b="1" baseline="80000" dirty="0">
                  <a:solidFill>
                    <a:schemeClr val="bg1"/>
                  </a:solidFill>
                  <a:latin typeface="Brix Slab Light" panose="02000000000000000000" pitchFamily="50" charset="0"/>
                </a:rPr>
                <a:t>a</a:t>
              </a:r>
            </a:p>
            <a:p>
              <a:pPr algn="just">
                <a:lnSpc>
                  <a:spcPct val="150000"/>
                </a:lnSpc>
              </a:pPr>
              <a:r>
                <a:rPr lang="fr-FR" sz="5400" b="1" dirty="0">
                  <a:solidFill>
                    <a:schemeClr val="bg1"/>
                  </a:solidFill>
                  <a:latin typeface="Brix Slab Light" panose="02000000000000000000" pitchFamily="50" charset="0"/>
                </a:rPr>
                <a:t>Triglycérides : 150 mg/dL </a:t>
              </a:r>
              <a:r>
                <a:rPr lang="fr-FR" sz="5400" b="1" baseline="80000" dirty="0">
                  <a:solidFill>
                    <a:schemeClr val="bg1"/>
                  </a:solidFill>
                  <a:latin typeface="Brix Slab Light" panose="02000000000000000000" pitchFamily="50" charset="0"/>
                </a:rPr>
                <a:t>a</a:t>
              </a:r>
            </a:p>
            <a:p>
              <a:pPr algn="just">
                <a:lnSpc>
                  <a:spcPct val="150000"/>
                </a:lnSpc>
              </a:pPr>
              <a:r>
                <a:rPr lang="fr-FR" sz="5400" b="1" dirty="0">
                  <a:solidFill>
                    <a:schemeClr val="bg1"/>
                  </a:solidFill>
                  <a:latin typeface="Brix Slab Light" panose="02000000000000000000" pitchFamily="50" charset="0"/>
                </a:rPr>
                <a:t>Cholestérol : 200 mg/dL </a:t>
              </a:r>
              <a:r>
                <a:rPr lang="fr-FR" sz="5400" b="1" baseline="80000" dirty="0">
                  <a:solidFill>
                    <a:schemeClr val="bg1"/>
                  </a:solidFill>
                  <a:latin typeface="Brix Slab Light" panose="02000000000000000000" pitchFamily="50" charset="0"/>
                </a:rPr>
                <a:t>a</a:t>
              </a:r>
            </a:p>
            <a:p>
              <a:pPr algn="just">
                <a:lnSpc>
                  <a:spcPct val="150000"/>
                </a:lnSpc>
              </a:pPr>
              <a:r>
                <a:rPr lang="fr-FR" sz="5400" b="1" dirty="0">
                  <a:solidFill>
                    <a:schemeClr val="bg1"/>
                  </a:solidFill>
                  <a:latin typeface="Brix Slab Light" panose="02000000000000000000" pitchFamily="50" charset="0"/>
                </a:rPr>
                <a:t>HbA1c : 6% </a:t>
              </a:r>
              <a:r>
                <a:rPr lang="fr-FR" sz="5400" b="1" baseline="80000" dirty="0">
                  <a:solidFill>
                    <a:schemeClr val="bg1"/>
                  </a:solidFill>
                  <a:latin typeface="Brix Slab Light" panose="02000000000000000000" pitchFamily="50" charset="0"/>
                </a:rPr>
                <a:t>b</a:t>
              </a:r>
              <a:r>
                <a:rPr lang="fr-FR" sz="5400" b="1" dirty="0">
                  <a:solidFill>
                    <a:schemeClr val="bg1"/>
                  </a:solidFill>
                  <a:latin typeface="Brix Slab Light" panose="02000000000000000000" pitchFamily="50" charset="0"/>
                </a:rPr>
                <a:t> </a:t>
              </a:r>
            </a:p>
            <a:p>
              <a:pPr algn="just">
                <a:lnSpc>
                  <a:spcPct val="150000"/>
                </a:lnSpc>
              </a:pPr>
              <a:r>
                <a:rPr lang="fr-FR" sz="5400" b="1" dirty="0">
                  <a:solidFill>
                    <a:schemeClr val="bg1"/>
                  </a:solidFill>
                  <a:latin typeface="Brix Slab Light" panose="02000000000000000000" pitchFamily="50" charset="0"/>
                </a:rPr>
                <a:t>Taux d’oxygène sanguin : </a:t>
              </a:r>
              <a:r>
                <a:rPr lang="fr-FR" sz="5400" dirty="0">
                  <a:solidFill>
                    <a:schemeClr val="bg1"/>
                  </a:solidFill>
                  <a:latin typeface="Brix Slab Light" panose="02000000000000000000" pitchFamily="50" charset="0"/>
                </a:rPr>
                <a:t>95% </a:t>
              </a:r>
              <a:r>
                <a:rPr lang="fr-FR" sz="5400" b="1" baseline="80000" dirty="0">
                  <a:solidFill>
                    <a:schemeClr val="bg1"/>
                  </a:solidFill>
                  <a:latin typeface="Brix Slab Light" panose="02000000000000000000" pitchFamily="50" charset="0"/>
                </a:rPr>
                <a:t>a</a:t>
              </a:r>
              <a:r>
                <a:rPr lang="fr-FR" sz="5400" dirty="0">
                  <a:solidFill>
                    <a:schemeClr val="bg1"/>
                  </a:solidFill>
                  <a:latin typeface="Brix Slab Light" panose="02000000000000000000" pitchFamily="50" charset="0"/>
                </a:rPr>
                <a:t> </a:t>
              </a:r>
            </a:p>
          </p:txBody>
        </p:sp>
        <p:sp>
          <p:nvSpPr>
            <p:cNvPr id="22" name="Rectangle : coins arrondis 21">
              <a:extLst>
                <a:ext uri="{FF2B5EF4-FFF2-40B4-BE49-F238E27FC236}">
                  <a16:creationId xmlns:a16="http://schemas.microsoft.com/office/drawing/2014/main" id="{593898CC-5B8E-386E-313A-4429B224E407}"/>
                </a:ext>
              </a:extLst>
            </p:cNvPr>
            <p:cNvSpPr/>
            <p:nvPr/>
          </p:nvSpPr>
          <p:spPr>
            <a:xfrm>
              <a:off x="1577992" y="6807201"/>
              <a:ext cx="11806581" cy="1290228"/>
            </a:xfrm>
            <a:prstGeom prst="roundRect">
              <a:avLst>
                <a:gd name="adj" fmla="val 50000"/>
              </a:avLst>
            </a:prstGeom>
            <a:solidFill>
              <a:srgbClr val="FFC50D"/>
            </a:solidFill>
            <a:ln>
              <a:solidFill>
                <a:srgbClr val="FFC5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C07E6979-844F-B674-6FD8-AA5216DC4C15}"/>
                </a:ext>
              </a:extLst>
            </p:cNvPr>
            <p:cNvSpPr txBox="1"/>
            <p:nvPr/>
          </p:nvSpPr>
          <p:spPr>
            <a:xfrm>
              <a:off x="1841500" y="6944483"/>
              <a:ext cx="11328400" cy="984885"/>
            </a:xfrm>
            <a:prstGeom prst="rect">
              <a:avLst/>
            </a:prstGeom>
            <a:noFill/>
          </p:spPr>
          <p:txBody>
            <a:bodyPr wrap="square" rtlCol="0">
              <a:spAutoFit/>
            </a:bodyPr>
            <a:lstStyle/>
            <a:p>
              <a:pPr algn="ctr"/>
              <a:r>
                <a:rPr lang="fr-FR" sz="5800" b="1" dirty="0">
                  <a:solidFill>
                    <a:schemeClr val="bg1"/>
                  </a:solidFill>
                  <a:latin typeface="Brix Slab Light" panose="02000000000000000000" pitchFamily="50" charset="0"/>
                </a:rPr>
                <a:t>Seuils - Risque Cardiovasculaire </a:t>
              </a:r>
            </a:p>
          </p:txBody>
        </p:sp>
      </p:grpSp>
      <p:sp>
        <p:nvSpPr>
          <p:cNvPr id="23" name="ZoneTexte 22">
            <a:extLst>
              <a:ext uri="{FF2B5EF4-FFF2-40B4-BE49-F238E27FC236}">
                <a16:creationId xmlns:a16="http://schemas.microsoft.com/office/drawing/2014/main" id="{EE2B65F3-1914-4003-00A0-993101F629E4}"/>
              </a:ext>
            </a:extLst>
          </p:cNvPr>
          <p:cNvSpPr txBox="1"/>
          <p:nvPr/>
        </p:nvSpPr>
        <p:spPr>
          <a:xfrm>
            <a:off x="2545118" y="18019041"/>
            <a:ext cx="26617594" cy="1446550"/>
          </a:xfrm>
          <a:prstGeom prst="rect">
            <a:avLst/>
          </a:prstGeom>
          <a:noFill/>
        </p:spPr>
        <p:txBody>
          <a:bodyPr wrap="square" rtlCol="0">
            <a:spAutoFit/>
          </a:bodyPr>
          <a:lstStyle/>
          <a:p>
            <a:pPr algn="just"/>
            <a:r>
              <a:rPr lang="fr-FR" sz="4400" i="1" dirty="0">
                <a:latin typeface="Brix Slab Light" panose="02000000000000000000" pitchFamily="50" charset="0"/>
              </a:rPr>
              <a:t>Sources :</a:t>
            </a:r>
          </a:p>
          <a:p>
            <a:pPr algn="just"/>
            <a:r>
              <a:rPr lang="fr-FR" sz="4400" i="1" dirty="0">
                <a:latin typeface="Brix Slab Light" panose="02000000000000000000" pitchFamily="50" charset="0"/>
              </a:rPr>
              <a:t>a : Fédération Française de Cardiologie ; b : Fédération des Diabétiques ; c : OMS</a:t>
            </a:r>
          </a:p>
        </p:txBody>
      </p:sp>
      <p:pic>
        <p:nvPicPr>
          <p:cNvPr id="29" name="Image 28">
            <a:extLst>
              <a:ext uri="{FF2B5EF4-FFF2-40B4-BE49-F238E27FC236}">
                <a16:creationId xmlns:a16="http://schemas.microsoft.com/office/drawing/2014/main" id="{3F107612-2770-8959-5BC6-70A0A9BC740F}"/>
              </a:ext>
            </a:extLst>
          </p:cNvPr>
          <p:cNvPicPr>
            <a:picLocks noChangeAspect="1"/>
          </p:cNvPicPr>
          <p:nvPr/>
        </p:nvPicPr>
        <p:blipFill>
          <a:blip r:embed="rId2"/>
          <a:stretch>
            <a:fillRect/>
          </a:stretch>
        </p:blipFill>
        <p:spPr>
          <a:xfrm>
            <a:off x="514652" y="22778737"/>
            <a:ext cx="29210975" cy="17821516"/>
          </a:xfrm>
          <a:prstGeom prst="rect">
            <a:avLst/>
          </a:prstGeom>
        </p:spPr>
      </p:pic>
      <p:grpSp>
        <p:nvGrpSpPr>
          <p:cNvPr id="38" name="Groupe 37">
            <a:extLst>
              <a:ext uri="{FF2B5EF4-FFF2-40B4-BE49-F238E27FC236}">
                <a16:creationId xmlns:a16="http://schemas.microsoft.com/office/drawing/2014/main" id="{AC30BCD9-A48B-ABF7-0CF7-FD1A2D3FF22E}"/>
              </a:ext>
            </a:extLst>
          </p:cNvPr>
          <p:cNvGrpSpPr/>
          <p:nvPr/>
        </p:nvGrpSpPr>
        <p:grpSpPr>
          <a:xfrm>
            <a:off x="1077569" y="39039800"/>
            <a:ext cx="5980647" cy="3098158"/>
            <a:chOff x="536877" y="39039800"/>
            <a:chExt cx="5980647" cy="3098158"/>
          </a:xfrm>
        </p:grpSpPr>
        <p:sp>
          <p:nvSpPr>
            <p:cNvPr id="30" name="Rectangle 29">
              <a:extLst>
                <a:ext uri="{FF2B5EF4-FFF2-40B4-BE49-F238E27FC236}">
                  <a16:creationId xmlns:a16="http://schemas.microsoft.com/office/drawing/2014/main" id="{9552EB1D-A613-6F4E-6AF7-71689CBF1268}"/>
                </a:ext>
              </a:extLst>
            </p:cNvPr>
            <p:cNvSpPr/>
            <p:nvPr/>
          </p:nvSpPr>
          <p:spPr>
            <a:xfrm>
              <a:off x="536877" y="39039800"/>
              <a:ext cx="5813123" cy="3098158"/>
            </a:xfrm>
            <a:prstGeom prst="rect">
              <a:avLst/>
            </a:prstGeom>
            <a:solidFill>
              <a:schemeClr val="bg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30">
              <a:extLst>
                <a:ext uri="{FF2B5EF4-FFF2-40B4-BE49-F238E27FC236}">
                  <a16:creationId xmlns:a16="http://schemas.microsoft.com/office/drawing/2014/main" id="{A4010385-3BA8-3235-14EB-5E2B97AD3C3C}"/>
                </a:ext>
              </a:extLst>
            </p:cNvPr>
            <p:cNvSpPr/>
            <p:nvPr/>
          </p:nvSpPr>
          <p:spPr>
            <a:xfrm>
              <a:off x="818184" y="39276275"/>
              <a:ext cx="2046631" cy="1106324"/>
            </a:xfrm>
            <a:prstGeom prst="rect">
              <a:avLst/>
            </a:prstGeom>
            <a:solidFill>
              <a:srgbClr val="B22222"/>
            </a:solidFill>
            <a:ln>
              <a:solidFill>
                <a:srgbClr val="B222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32">
              <a:extLst>
                <a:ext uri="{FF2B5EF4-FFF2-40B4-BE49-F238E27FC236}">
                  <a16:creationId xmlns:a16="http://schemas.microsoft.com/office/drawing/2014/main" id="{60BB494D-F452-1046-25C4-7DE829C63C60}"/>
                </a:ext>
              </a:extLst>
            </p:cNvPr>
            <p:cNvSpPr/>
            <p:nvPr/>
          </p:nvSpPr>
          <p:spPr>
            <a:xfrm>
              <a:off x="818184" y="40817907"/>
              <a:ext cx="2046631" cy="1106324"/>
            </a:xfrm>
            <a:prstGeom prst="rect">
              <a:avLst/>
            </a:prstGeom>
            <a:solidFill>
              <a:srgbClr val="9ACD32"/>
            </a:solidFill>
            <a:ln>
              <a:solidFill>
                <a:srgbClr val="9AC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ZoneTexte 33">
              <a:extLst>
                <a:ext uri="{FF2B5EF4-FFF2-40B4-BE49-F238E27FC236}">
                  <a16:creationId xmlns:a16="http://schemas.microsoft.com/office/drawing/2014/main" id="{192FF06E-38AC-7CCC-C31B-D2A42A7F16F3}"/>
                </a:ext>
              </a:extLst>
            </p:cNvPr>
            <p:cNvSpPr txBox="1"/>
            <p:nvPr/>
          </p:nvSpPr>
          <p:spPr>
            <a:xfrm>
              <a:off x="2697291" y="39229272"/>
              <a:ext cx="3820233" cy="1200329"/>
            </a:xfrm>
            <a:prstGeom prst="rect">
              <a:avLst/>
            </a:prstGeom>
            <a:noFill/>
          </p:spPr>
          <p:txBody>
            <a:bodyPr wrap="square" rtlCol="0">
              <a:spAutoFit/>
            </a:bodyPr>
            <a:lstStyle/>
            <a:p>
              <a:pPr algn="ctr"/>
              <a:r>
                <a:rPr lang="fr-FR" sz="3600" dirty="0">
                  <a:latin typeface="Brix Slab Light" panose="02000000000000000000" pitchFamily="50" charset="0"/>
                </a:rPr>
                <a:t>En bonne santé </a:t>
              </a:r>
              <a:r>
                <a:rPr lang="fr-FR" sz="3600" i="1" dirty="0">
                  <a:latin typeface="Brix Slab Light" panose="02000000000000000000" pitchFamily="50" charset="0"/>
                </a:rPr>
                <a:t>(« Healthy ») </a:t>
              </a:r>
            </a:p>
          </p:txBody>
        </p:sp>
        <p:sp>
          <p:nvSpPr>
            <p:cNvPr id="35" name="ZoneTexte 34">
              <a:extLst>
                <a:ext uri="{FF2B5EF4-FFF2-40B4-BE49-F238E27FC236}">
                  <a16:creationId xmlns:a16="http://schemas.microsoft.com/office/drawing/2014/main" id="{D6DBE76D-C8EF-CCC6-B87C-390848F310DE}"/>
                </a:ext>
              </a:extLst>
            </p:cNvPr>
            <p:cNvSpPr txBox="1"/>
            <p:nvPr/>
          </p:nvSpPr>
          <p:spPr>
            <a:xfrm>
              <a:off x="3224453" y="40770904"/>
              <a:ext cx="2765908" cy="1200329"/>
            </a:xfrm>
            <a:prstGeom prst="rect">
              <a:avLst/>
            </a:prstGeom>
            <a:noFill/>
          </p:spPr>
          <p:txBody>
            <a:bodyPr wrap="square" rtlCol="0">
              <a:spAutoFit/>
            </a:bodyPr>
            <a:lstStyle/>
            <a:p>
              <a:pPr algn="ctr"/>
              <a:r>
                <a:rPr lang="fr-FR" sz="3600" dirty="0">
                  <a:latin typeface="Brix Slab Light" panose="02000000000000000000" pitchFamily="50" charset="0"/>
                </a:rPr>
                <a:t>A risque</a:t>
              </a:r>
              <a:r>
                <a:rPr lang="fr-FR" sz="3600" i="1" dirty="0">
                  <a:latin typeface="Brix Slab Light" panose="02000000000000000000" pitchFamily="50" charset="0"/>
                </a:rPr>
                <a:t> </a:t>
              </a:r>
            </a:p>
            <a:p>
              <a:pPr algn="ctr"/>
              <a:r>
                <a:rPr lang="fr-FR" sz="3600" i="1" dirty="0">
                  <a:latin typeface="Brix Slab Light" panose="02000000000000000000" pitchFamily="50" charset="0"/>
                </a:rPr>
                <a:t>(« At risk ») </a:t>
              </a:r>
            </a:p>
          </p:txBody>
        </p:sp>
      </p:grpSp>
      <p:sp>
        <p:nvSpPr>
          <p:cNvPr id="6" name="ZoneTexte 5">
            <a:extLst>
              <a:ext uri="{FF2B5EF4-FFF2-40B4-BE49-F238E27FC236}">
                <a16:creationId xmlns:a16="http://schemas.microsoft.com/office/drawing/2014/main" id="{316710D2-4C09-60C2-5877-FD1AE4E637EE}"/>
              </a:ext>
            </a:extLst>
          </p:cNvPr>
          <p:cNvSpPr txBox="1"/>
          <p:nvPr/>
        </p:nvSpPr>
        <p:spPr>
          <a:xfrm>
            <a:off x="26702910" y="42298462"/>
            <a:ext cx="3022717" cy="369332"/>
          </a:xfrm>
          <a:prstGeom prst="rect">
            <a:avLst/>
          </a:prstGeom>
          <a:noFill/>
        </p:spPr>
        <p:txBody>
          <a:bodyPr wrap="square">
            <a:spAutoFit/>
          </a:bodyPr>
          <a:lstStyle/>
          <a:p>
            <a:pPr algn="ctr"/>
            <a:r>
              <a:rPr lang="fr-FR" sz="1800" i="1" dirty="0">
                <a:latin typeface="Brix Slab Light" panose="02000000000000000000" pitchFamily="50" charset="0"/>
              </a:rPr>
              <a:t>Auteur : Youenn MARTIN	</a:t>
            </a:r>
          </a:p>
        </p:txBody>
      </p:sp>
    </p:spTree>
    <p:extLst>
      <p:ext uri="{BB962C8B-B14F-4D97-AF65-F5344CB8AC3E}">
        <p14:creationId xmlns:p14="http://schemas.microsoft.com/office/powerpoint/2010/main" val="1028326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DDA20-BA3F-866C-F732-BC8B3A38408A}"/>
            </a:ext>
          </a:extLst>
        </p:cNvPr>
        <p:cNvGrpSpPr/>
        <p:nvPr/>
      </p:nvGrpSpPr>
      <p:grpSpPr>
        <a:xfrm>
          <a:off x="0" y="0"/>
          <a:ext cx="0" cy="0"/>
          <a:chOff x="0" y="0"/>
          <a:chExt cx="0" cy="0"/>
        </a:xfrm>
      </p:grpSpPr>
      <p:sp>
        <p:nvSpPr>
          <p:cNvPr id="19" name="ZoneTexte 18">
            <a:extLst>
              <a:ext uri="{FF2B5EF4-FFF2-40B4-BE49-F238E27FC236}">
                <a16:creationId xmlns:a16="http://schemas.microsoft.com/office/drawing/2014/main" id="{978B1FFF-0708-64A2-CEA1-647616B17780}"/>
              </a:ext>
            </a:extLst>
          </p:cNvPr>
          <p:cNvSpPr txBox="1"/>
          <p:nvPr/>
        </p:nvSpPr>
        <p:spPr>
          <a:xfrm>
            <a:off x="1077569" y="665805"/>
            <a:ext cx="28085143" cy="1015663"/>
          </a:xfrm>
          <a:prstGeom prst="rect">
            <a:avLst/>
          </a:prstGeom>
          <a:solidFill>
            <a:srgbClr val="718FC4"/>
          </a:solidFill>
        </p:spPr>
        <p:txBody>
          <a:bodyPr wrap="square" rtlCol="0">
            <a:spAutoFit/>
          </a:bodyPr>
          <a:lstStyle/>
          <a:p>
            <a:pPr algn="ctr"/>
            <a:r>
              <a:rPr lang="fr-FR" sz="6000" b="1" dirty="0">
                <a:solidFill>
                  <a:schemeClr val="bg1"/>
                </a:solidFill>
                <a:latin typeface="Brix Slab Light" panose="02000000000000000000" pitchFamily="50" charset="0"/>
              </a:rPr>
              <a:t>Classification – Risque Cardiovasculaire</a:t>
            </a:r>
          </a:p>
        </p:txBody>
      </p:sp>
      <p:sp>
        <p:nvSpPr>
          <p:cNvPr id="20" name="ZoneTexte 19">
            <a:extLst>
              <a:ext uri="{FF2B5EF4-FFF2-40B4-BE49-F238E27FC236}">
                <a16:creationId xmlns:a16="http://schemas.microsoft.com/office/drawing/2014/main" id="{8AA638CD-A2AA-AFBD-C8E8-C04AF2B70DAF}"/>
              </a:ext>
            </a:extLst>
          </p:cNvPr>
          <p:cNvSpPr txBox="1"/>
          <p:nvPr/>
        </p:nvSpPr>
        <p:spPr>
          <a:xfrm>
            <a:off x="1077568" y="21720560"/>
            <a:ext cx="28085143" cy="1015663"/>
          </a:xfrm>
          <a:prstGeom prst="rect">
            <a:avLst/>
          </a:prstGeom>
          <a:solidFill>
            <a:srgbClr val="718FC4"/>
          </a:solidFill>
        </p:spPr>
        <p:txBody>
          <a:bodyPr wrap="square" rtlCol="0">
            <a:spAutoFit/>
          </a:bodyPr>
          <a:lstStyle/>
          <a:p>
            <a:pPr algn="ctr"/>
            <a:r>
              <a:rPr lang="fr-FR" sz="6000" b="1" dirty="0">
                <a:solidFill>
                  <a:schemeClr val="bg1"/>
                </a:solidFill>
                <a:latin typeface="Brix Slab Light" panose="02000000000000000000" pitchFamily="50" charset="0"/>
              </a:rPr>
              <a:t>Classification – Mode de vie </a:t>
            </a:r>
          </a:p>
        </p:txBody>
      </p:sp>
      <p:pic>
        <p:nvPicPr>
          <p:cNvPr id="3" name="Image 2">
            <a:extLst>
              <a:ext uri="{FF2B5EF4-FFF2-40B4-BE49-F238E27FC236}">
                <a16:creationId xmlns:a16="http://schemas.microsoft.com/office/drawing/2014/main" id="{A6AC5C72-D480-7FD5-A1FC-2A51E2587C2E}"/>
              </a:ext>
            </a:extLst>
          </p:cNvPr>
          <p:cNvPicPr>
            <a:picLocks noChangeAspect="1"/>
          </p:cNvPicPr>
          <p:nvPr/>
        </p:nvPicPr>
        <p:blipFill>
          <a:blip r:embed="rId3"/>
          <a:stretch>
            <a:fillRect/>
          </a:stretch>
        </p:blipFill>
        <p:spPr>
          <a:xfrm>
            <a:off x="2785245" y="3608470"/>
            <a:ext cx="8335185" cy="15889349"/>
          </a:xfrm>
          <a:prstGeom prst="rect">
            <a:avLst/>
          </a:prstGeom>
        </p:spPr>
      </p:pic>
      <p:pic>
        <p:nvPicPr>
          <p:cNvPr id="43" name="Image 42">
            <a:extLst>
              <a:ext uri="{FF2B5EF4-FFF2-40B4-BE49-F238E27FC236}">
                <a16:creationId xmlns:a16="http://schemas.microsoft.com/office/drawing/2014/main" id="{44EC3E75-DB70-F396-78B8-D5E5C40A08F4}"/>
              </a:ext>
            </a:extLst>
          </p:cNvPr>
          <p:cNvPicPr>
            <a:picLocks noChangeAspect="1"/>
          </p:cNvPicPr>
          <p:nvPr/>
        </p:nvPicPr>
        <p:blipFill>
          <a:blip r:embed="rId4"/>
          <a:stretch>
            <a:fillRect/>
          </a:stretch>
        </p:blipFill>
        <p:spPr>
          <a:xfrm>
            <a:off x="14159249" y="3128222"/>
            <a:ext cx="11364233" cy="4248310"/>
          </a:xfrm>
          <a:prstGeom prst="rect">
            <a:avLst/>
          </a:prstGeom>
          <a:ln w="76200">
            <a:solidFill>
              <a:schemeClr val="tx1"/>
            </a:solidFill>
          </a:ln>
        </p:spPr>
      </p:pic>
      <p:grpSp>
        <p:nvGrpSpPr>
          <p:cNvPr id="56" name="Groupe 55">
            <a:extLst>
              <a:ext uri="{FF2B5EF4-FFF2-40B4-BE49-F238E27FC236}">
                <a16:creationId xmlns:a16="http://schemas.microsoft.com/office/drawing/2014/main" id="{502E8078-C766-B4CC-E459-18603FA7B023}"/>
              </a:ext>
            </a:extLst>
          </p:cNvPr>
          <p:cNvGrpSpPr/>
          <p:nvPr/>
        </p:nvGrpSpPr>
        <p:grpSpPr>
          <a:xfrm>
            <a:off x="1219806" y="23294432"/>
            <a:ext cx="27828000" cy="18694574"/>
            <a:chOff x="1214924" y="22823078"/>
            <a:chExt cx="27828000" cy="18694574"/>
          </a:xfrm>
        </p:grpSpPr>
        <p:pic>
          <p:nvPicPr>
            <p:cNvPr id="9" name="Image 8">
              <a:extLst>
                <a:ext uri="{FF2B5EF4-FFF2-40B4-BE49-F238E27FC236}">
                  <a16:creationId xmlns:a16="http://schemas.microsoft.com/office/drawing/2014/main" id="{BC4A4E28-EB9B-F96C-AF0F-F341F9465CCE}"/>
                </a:ext>
              </a:extLst>
            </p:cNvPr>
            <p:cNvPicPr>
              <a:picLocks noChangeAspect="1"/>
            </p:cNvPicPr>
            <p:nvPr/>
          </p:nvPicPr>
          <p:blipFill>
            <a:blip r:embed="rId5"/>
            <a:stretch>
              <a:fillRect/>
            </a:stretch>
          </p:blipFill>
          <p:spPr>
            <a:xfrm>
              <a:off x="2539220" y="24226175"/>
              <a:ext cx="8649663" cy="15889349"/>
            </a:xfrm>
            <a:prstGeom prst="rect">
              <a:avLst/>
            </a:prstGeom>
          </p:spPr>
        </p:pic>
        <p:pic>
          <p:nvPicPr>
            <p:cNvPr id="32" name="Image 31">
              <a:extLst>
                <a:ext uri="{FF2B5EF4-FFF2-40B4-BE49-F238E27FC236}">
                  <a16:creationId xmlns:a16="http://schemas.microsoft.com/office/drawing/2014/main" id="{04727240-C188-C465-CB2D-5E4F83A3C90C}"/>
                </a:ext>
              </a:extLst>
            </p:cNvPr>
            <p:cNvPicPr>
              <a:picLocks noChangeAspect="1"/>
            </p:cNvPicPr>
            <p:nvPr/>
          </p:nvPicPr>
          <p:blipFill>
            <a:blip r:embed="rId6"/>
            <a:stretch>
              <a:fillRect/>
            </a:stretch>
          </p:blipFill>
          <p:spPr>
            <a:xfrm>
              <a:off x="13718144" y="29565742"/>
              <a:ext cx="12751938" cy="11135240"/>
            </a:xfrm>
            <a:prstGeom prst="rect">
              <a:avLst/>
            </a:prstGeom>
          </p:spPr>
        </p:pic>
        <p:sp>
          <p:nvSpPr>
            <p:cNvPr id="33" name="Rectangle 32">
              <a:extLst>
                <a:ext uri="{FF2B5EF4-FFF2-40B4-BE49-F238E27FC236}">
                  <a16:creationId xmlns:a16="http://schemas.microsoft.com/office/drawing/2014/main" id="{E013C565-C98F-8BFD-AA88-CF8121CF3218}"/>
                </a:ext>
              </a:extLst>
            </p:cNvPr>
            <p:cNvSpPr/>
            <p:nvPr/>
          </p:nvSpPr>
          <p:spPr>
            <a:xfrm>
              <a:off x="1214924" y="22823078"/>
              <a:ext cx="27828000" cy="18694574"/>
            </a:xfrm>
            <a:prstGeom prst="rect">
              <a:avLst/>
            </a:prstGeom>
            <a:noFill/>
            <a:ln w="2540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7F486C96-42EA-3044-3D67-77855005BAA1}"/>
                </a:ext>
              </a:extLst>
            </p:cNvPr>
            <p:cNvSpPr/>
            <p:nvPr/>
          </p:nvSpPr>
          <p:spPr>
            <a:xfrm>
              <a:off x="1692613" y="23317200"/>
              <a:ext cx="26856987" cy="17691100"/>
            </a:xfrm>
            <a:prstGeom prst="rect">
              <a:avLst/>
            </a:prstGeom>
            <a:noFill/>
            <a:ln w="2159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5" name="Groupe 34">
              <a:extLst>
                <a:ext uri="{FF2B5EF4-FFF2-40B4-BE49-F238E27FC236}">
                  <a16:creationId xmlns:a16="http://schemas.microsoft.com/office/drawing/2014/main" id="{77684870-6FC4-6E19-F746-E03220744769}"/>
                </a:ext>
              </a:extLst>
            </p:cNvPr>
            <p:cNvGrpSpPr/>
            <p:nvPr/>
          </p:nvGrpSpPr>
          <p:grpSpPr>
            <a:xfrm>
              <a:off x="17002042" y="28529059"/>
              <a:ext cx="6184141" cy="917575"/>
              <a:chOff x="10490199" y="25209500"/>
              <a:chExt cx="4940301" cy="917575"/>
            </a:xfrm>
          </p:grpSpPr>
          <p:sp>
            <p:nvSpPr>
              <p:cNvPr id="36" name="Rectangle 35">
                <a:extLst>
                  <a:ext uri="{FF2B5EF4-FFF2-40B4-BE49-F238E27FC236}">
                    <a16:creationId xmlns:a16="http://schemas.microsoft.com/office/drawing/2014/main" id="{B649992E-420D-32C3-EDA1-A514961A6953}"/>
                  </a:ext>
                </a:extLst>
              </p:cNvPr>
              <p:cNvSpPr/>
              <p:nvPr/>
            </p:nvSpPr>
            <p:spPr>
              <a:xfrm>
                <a:off x="10490199" y="25209500"/>
                <a:ext cx="4940301" cy="917575"/>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7" name="ZoneTexte 36">
                <a:extLst>
                  <a:ext uri="{FF2B5EF4-FFF2-40B4-BE49-F238E27FC236}">
                    <a16:creationId xmlns:a16="http://schemas.microsoft.com/office/drawing/2014/main" id="{2E39849E-CBAD-D616-811A-6EB9D113966E}"/>
                  </a:ext>
                </a:extLst>
              </p:cNvPr>
              <p:cNvSpPr txBox="1"/>
              <p:nvPr/>
            </p:nvSpPr>
            <p:spPr>
              <a:xfrm>
                <a:off x="10575519" y="25308781"/>
                <a:ext cx="4765148" cy="707886"/>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Profil des classes de risque</a:t>
                </a:r>
              </a:p>
            </p:txBody>
          </p:sp>
        </p:grpSp>
        <p:sp>
          <p:nvSpPr>
            <p:cNvPr id="44" name="Rectangle 43">
              <a:extLst>
                <a:ext uri="{FF2B5EF4-FFF2-40B4-BE49-F238E27FC236}">
                  <a16:creationId xmlns:a16="http://schemas.microsoft.com/office/drawing/2014/main" id="{273D3D02-D660-8942-10E4-9ED0157A5277}"/>
                </a:ext>
              </a:extLst>
            </p:cNvPr>
            <p:cNvSpPr/>
            <p:nvPr/>
          </p:nvSpPr>
          <p:spPr>
            <a:xfrm>
              <a:off x="3035030" y="24226175"/>
              <a:ext cx="7743217" cy="73499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45" name="ZoneTexte 44">
              <a:extLst>
                <a:ext uri="{FF2B5EF4-FFF2-40B4-BE49-F238E27FC236}">
                  <a16:creationId xmlns:a16="http://schemas.microsoft.com/office/drawing/2014/main" id="{FCD2BC38-CA45-09A9-A010-5E74C7AA6CD9}"/>
                </a:ext>
              </a:extLst>
            </p:cNvPr>
            <p:cNvSpPr txBox="1"/>
            <p:nvPr/>
          </p:nvSpPr>
          <p:spPr>
            <a:xfrm>
              <a:off x="2912774" y="23830363"/>
              <a:ext cx="8753798" cy="984885"/>
            </a:xfrm>
            <a:prstGeom prst="rect">
              <a:avLst/>
            </a:prstGeom>
            <a:noFill/>
          </p:spPr>
          <p:txBody>
            <a:bodyPr wrap="square" rtlCol="0">
              <a:spAutoFit/>
            </a:bodyPr>
            <a:lstStyle/>
            <a:p>
              <a:r>
                <a:rPr lang="fr-FR" sz="5800" b="1" dirty="0">
                  <a:latin typeface="Brix Slab Light" panose="02000000000000000000" pitchFamily="50" charset="0"/>
                </a:rPr>
                <a:t>Distribution des classes </a:t>
              </a:r>
            </a:p>
          </p:txBody>
        </p:sp>
        <p:pic>
          <p:nvPicPr>
            <p:cNvPr id="47" name="Image 46">
              <a:extLst>
                <a:ext uri="{FF2B5EF4-FFF2-40B4-BE49-F238E27FC236}">
                  <a16:creationId xmlns:a16="http://schemas.microsoft.com/office/drawing/2014/main" id="{0AC4815B-CA4D-759E-AF6F-F4E53361C6B9}"/>
                </a:ext>
              </a:extLst>
            </p:cNvPr>
            <p:cNvPicPr>
              <a:picLocks noChangeAspect="1"/>
            </p:cNvPicPr>
            <p:nvPr/>
          </p:nvPicPr>
          <p:blipFill>
            <a:blip r:embed="rId7"/>
            <a:stretch>
              <a:fillRect/>
            </a:stretch>
          </p:blipFill>
          <p:spPr>
            <a:xfrm>
              <a:off x="14469717" y="23815340"/>
              <a:ext cx="11053765" cy="4303648"/>
            </a:xfrm>
            <a:prstGeom prst="rect">
              <a:avLst/>
            </a:prstGeom>
            <a:ln w="76200">
              <a:solidFill>
                <a:schemeClr val="tx1"/>
              </a:solidFill>
            </a:ln>
          </p:spPr>
        </p:pic>
      </p:grpSp>
      <p:sp>
        <p:nvSpPr>
          <p:cNvPr id="48" name="Rectangle 47">
            <a:extLst>
              <a:ext uri="{FF2B5EF4-FFF2-40B4-BE49-F238E27FC236}">
                <a16:creationId xmlns:a16="http://schemas.microsoft.com/office/drawing/2014/main" id="{98C47079-CCC4-804E-65F7-B1B3D445853C}"/>
              </a:ext>
            </a:extLst>
          </p:cNvPr>
          <p:cNvSpPr/>
          <p:nvPr/>
        </p:nvSpPr>
        <p:spPr>
          <a:xfrm>
            <a:off x="1206140" y="2205857"/>
            <a:ext cx="27828000" cy="18694574"/>
          </a:xfrm>
          <a:prstGeom prst="rect">
            <a:avLst/>
          </a:prstGeom>
          <a:noFill/>
          <a:ln w="254000">
            <a:solidFill>
              <a:srgbClr val="FFC5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48">
            <a:extLst>
              <a:ext uri="{FF2B5EF4-FFF2-40B4-BE49-F238E27FC236}">
                <a16:creationId xmlns:a16="http://schemas.microsoft.com/office/drawing/2014/main" id="{F378E2F3-9E6E-128B-D9B0-FFDE9EEDF83F}"/>
              </a:ext>
            </a:extLst>
          </p:cNvPr>
          <p:cNvSpPr/>
          <p:nvPr/>
        </p:nvSpPr>
        <p:spPr>
          <a:xfrm>
            <a:off x="1705313" y="2707594"/>
            <a:ext cx="26856987" cy="17691100"/>
          </a:xfrm>
          <a:prstGeom prst="rect">
            <a:avLst/>
          </a:prstGeom>
          <a:noFill/>
          <a:ln w="215900">
            <a:solidFill>
              <a:srgbClr val="FFC5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ZoneTexte 49">
            <a:extLst>
              <a:ext uri="{FF2B5EF4-FFF2-40B4-BE49-F238E27FC236}">
                <a16:creationId xmlns:a16="http://schemas.microsoft.com/office/drawing/2014/main" id="{7A92AFDC-3975-C1F3-C83D-18CAE8B74DCF}"/>
              </a:ext>
            </a:extLst>
          </p:cNvPr>
          <p:cNvSpPr txBox="1"/>
          <p:nvPr/>
        </p:nvSpPr>
        <p:spPr>
          <a:xfrm>
            <a:off x="3035030" y="3462544"/>
            <a:ext cx="8753798" cy="984885"/>
          </a:xfrm>
          <a:prstGeom prst="rect">
            <a:avLst/>
          </a:prstGeom>
          <a:solidFill>
            <a:schemeClr val="bg1"/>
          </a:solidFill>
        </p:spPr>
        <p:txBody>
          <a:bodyPr wrap="square" rtlCol="0">
            <a:spAutoFit/>
          </a:bodyPr>
          <a:lstStyle/>
          <a:p>
            <a:r>
              <a:rPr lang="fr-FR" sz="5700" b="1" dirty="0">
                <a:latin typeface="Brix Slab Light" panose="02000000000000000000" pitchFamily="50" charset="0"/>
              </a:rPr>
              <a:t>Distribution des classes </a:t>
            </a:r>
          </a:p>
        </p:txBody>
      </p:sp>
      <p:grpSp>
        <p:nvGrpSpPr>
          <p:cNvPr id="60" name="Groupe 59">
            <a:extLst>
              <a:ext uri="{FF2B5EF4-FFF2-40B4-BE49-F238E27FC236}">
                <a16:creationId xmlns:a16="http://schemas.microsoft.com/office/drawing/2014/main" id="{3538A6AD-F45D-440F-2FFA-693806909941}"/>
              </a:ext>
            </a:extLst>
          </p:cNvPr>
          <p:cNvGrpSpPr/>
          <p:nvPr/>
        </p:nvGrpSpPr>
        <p:grpSpPr>
          <a:xfrm>
            <a:off x="16734477" y="7765804"/>
            <a:ext cx="6213776" cy="918000"/>
            <a:chOff x="10490199" y="25209500"/>
            <a:chExt cx="5452670" cy="917575"/>
          </a:xfrm>
        </p:grpSpPr>
        <p:sp>
          <p:nvSpPr>
            <p:cNvPr id="61" name="Rectangle 60">
              <a:extLst>
                <a:ext uri="{FF2B5EF4-FFF2-40B4-BE49-F238E27FC236}">
                  <a16:creationId xmlns:a16="http://schemas.microsoft.com/office/drawing/2014/main" id="{60A813B1-BA24-878F-68C1-75E6C1A0A652}"/>
                </a:ext>
              </a:extLst>
            </p:cNvPr>
            <p:cNvSpPr/>
            <p:nvPr/>
          </p:nvSpPr>
          <p:spPr>
            <a:xfrm>
              <a:off x="10490199" y="25209500"/>
              <a:ext cx="5452670" cy="917575"/>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ZoneTexte 61">
              <a:extLst>
                <a:ext uri="{FF2B5EF4-FFF2-40B4-BE49-F238E27FC236}">
                  <a16:creationId xmlns:a16="http://schemas.microsoft.com/office/drawing/2014/main" id="{D9672A42-0920-F0A8-4ED2-60DB7EDE971F}"/>
                </a:ext>
              </a:extLst>
            </p:cNvPr>
            <p:cNvSpPr txBox="1"/>
            <p:nvPr/>
          </p:nvSpPr>
          <p:spPr>
            <a:xfrm>
              <a:off x="10568749" y="25308781"/>
              <a:ext cx="5299782" cy="707558"/>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Profil des classes de risque</a:t>
              </a:r>
            </a:p>
          </p:txBody>
        </p:sp>
      </p:grpSp>
      <p:pic>
        <p:nvPicPr>
          <p:cNvPr id="64" name="Image 63">
            <a:extLst>
              <a:ext uri="{FF2B5EF4-FFF2-40B4-BE49-F238E27FC236}">
                <a16:creationId xmlns:a16="http://schemas.microsoft.com/office/drawing/2014/main" id="{DBAE9C48-4446-004C-AA32-D88576E053B5}"/>
              </a:ext>
            </a:extLst>
          </p:cNvPr>
          <p:cNvPicPr>
            <a:picLocks noChangeAspect="1"/>
          </p:cNvPicPr>
          <p:nvPr/>
        </p:nvPicPr>
        <p:blipFill>
          <a:blip r:embed="rId8"/>
          <a:stretch>
            <a:fillRect/>
          </a:stretch>
        </p:blipFill>
        <p:spPr>
          <a:xfrm>
            <a:off x="12930312" y="9065941"/>
            <a:ext cx="14331714" cy="10699825"/>
          </a:xfrm>
          <a:prstGeom prst="rect">
            <a:avLst/>
          </a:prstGeom>
        </p:spPr>
      </p:pic>
      <p:sp>
        <p:nvSpPr>
          <p:cNvPr id="2" name="ZoneTexte 1">
            <a:extLst>
              <a:ext uri="{FF2B5EF4-FFF2-40B4-BE49-F238E27FC236}">
                <a16:creationId xmlns:a16="http://schemas.microsoft.com/office/drawing/2014/main" id="{DEE166E2-1DEA-260C-A361-E01589469382}"/>
              </a:ext>
            </a:extLst>
          </p:cNvPr>
          <p:cNvSpPr txBox="1"/>
          <p:nvPr/>
        </p:nvSpPr>
        <p:spPr>
          <a:xfrm>
            <a:off x="26702910" y="42298462"/>
            <a:ext cx="3022717" cy="369332"/>
          </a:xfrm>
          <a:prstGeom prst="rect">
            <a:avLst/>
          </a:prstGeom>
          <a:noFill/>
        </p:spPr>
        <p:txBody>
          <a:bodyPr wrap="square">
            <a:spAutoFit/>
          </a:bodyPr>
          <a:lstStyle/>
          <a:p>
            <a:pPr algn="ctr"/>
            <a:r>
              <a:rPr lang="fr-FR" sz="1800" i="1" dirty="0">
                <a:latin typeface="Brix Slab Light" panose="02000000000000000000" pitchFamily="50" charset="0"/>
              </a:rPr>
              <a:t>Auteur : Youenn MARTIN	</a:t>
            </a:r>
          </a:p>
        </p:txBody>
      </p:sp>
    </p:spTree>
    <p:extLst>
      <p:ext uri="{BB962C8B-B14F-4D97-AF65-F5344CB8AC3E}">
        <p14:creationId xmlns:p14="http://schemas.microsoft.com/office/powerpoint/2010/main" val="2025854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5A231-BF7B-2D2E-0AF9-FBB323472B26}"/>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86DF8AE6-2EBA-1F01-3E61-71B7551EA318}"/>
              </a:ext>
            </a:extLst>
          </p:cNvPr>
          <p:cNvPicPr>
            <a:picLocks noChangeAspect="1"/>
          </p:cNvPicPr>
          <p:nvPr/>
        </p:nvPicPr>
        <p:blipFill>
          <a:blip r:embed="rId2"/>
          <a:stretch>
            <a:fillRect/>
          </a:stretch>
        </p:blipFill>
        <p:spPr>
          <a:xfrm>
            <a:off x="2351701" y="4593522"/>
            <a:ext cx="25536881" cy="8053800"/>
          </a:xfrm>
          <a:prstGeom prst="rect">
            <a:avLst/>
          </a:prstGeom>
        </p:spPr>
      </p:pic>
      <p:sp>
        <p:nvSpPr>
          <p:cNvPr id="6" name="ZoneTexte 5">
            <a:extLst>
              <a:ext uri="{FF2B5EF4-FFF2-40B4-BE49-F238E27FC236}">
                <a16:creationId xmlns:a16="http://schemas.microsoft.com/office/drawing/2014/main" id="{41AA5042-99C3-195A-F0DD-BDD320F48135}"/>
              </a:ext>
            </a:extLst>
          </p:cNvPr>
          <p:cNvSpPr txBox="1"/>
          <p:nvPr/>
        </p:nvSpPr>
        <p:spPr>
          <a:xfrm>
            <a:off x="1077571" y="718986"/>
            <a:ext cx="28085143" cy="1015663"/>
          </a:xfrm>
          <a:prstGeom prst="rect">
            <a:avLst/>
          </a:prstGeom>
          <a:solidFill>
            <a:srgbClr val="718FC4"/>
          </a:solidFill>
        </p:spPr>
        <p:txBody>
          <a:bodyPr wrap="square" rtlCol="0">
            <a:spAutoFit/>
          </a:bodyPr>
          <a:lstStyle/>
          <a:p>
            <a:pPr algn="ctr"/>
            <a:r>
              <a:rPr lang="fr-FR" sz="6000" b="1" dirty="0">
                <a:solidFill>
                  <a:schemeClr val="bg1"/>
                </a:solidFill>
                <a:latin typeface="Brix Slab Light" panose="02000000000000000000" pitchFamily="50" charset="0"/>
              </a:rPr>
              <a:t>Evaluation de l’association entre le risque CV et le mode de vie </a:t>
            </a:r>
          </a:p>
        </p:txBody>
      </p:sp>
      <p:grpSp>
        <p:nvGrpSpPr>
          <p:cNvPr id="7" name="Groupe 6">
            <a:extLst>
              <a:ext uri="{FF2B5EF4-FFF2-40B4-BE49-F238E27FC236}">
                <a16:creationId xmlns:a16="http://schemas.microsoft.com/office/drawing/2014/main" id="{9B70FF25-86B8-FD63-F3AA-E8687D4FD5C3}"/>
              </a:ext>
            </a:extLst>
          </p:cNvPr>
          <p:cNvGrpSpPr/>
          <p:nvPr/>
        </p:nvGrpSpPr>
        <p:grpSpPr>
          <a:xfrm>
            <a:off x="2762658" y="2199002"/>
            <a:ext cx="8929357" cy="1537512"/>
            <a:chOff x="10490199" y="25209500"/>
            <a:chExt cx="5452670" cy="1536800"/>
          </a:xfrm>
        </p:grpSpPr>
        <p:sp>
          <p:nvSpPr>
            <p:cNvPr id="8" name="Rectangle 7">
              <a:extLst>
                <a:ext uri="{FF2B5EF4-FFF2-40B4-BE49-F238E27FC236}">
                  <a16:creationId xmlns:a16="http://schemas.microsoft.com/office/drawing/2014/main" id="{13106124-8381-7E7E-7248-6260C73535CF}"/>
                </a:ext>
              </a:extLst>
            </p:cNvPr>
            <p:cNvSpPr/>
            <p:nvPr/>
          </p:nvSpPr>
          <p:spPr>
            <a:xfrm>
              <a:off x="10490199" y="25209500"/>
              <a:ext cx="5452670" cy="1536800"/>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F0747B85-B58C-8FAD-0C14-9913354395F2}"/>
                </a:ext>
              </a:extLst>
            </p:cNvPr>
            <p:cNvSpPr txBox="1"/>
            <p:nvPr/>
          </p:nvSpPr>
          <p:spPr>
            <a:xfrm>
              <a:off x="10568749" y="25308781"/>
              <a:ext cx="5299782" cy="1322826"/>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Distribution des classes de mode de vie selon le niveau de risque CV </a:t>
              </a:r>
            </a:p>
          </p:txBody>
        </p:sp>
      </p:grpSp>
      <p:grpSp>
        <p:nvGrpSpPr>
          <p:cNvPr id="10" name="Groupe 9">
            <a:extLst>
              <a:ext uri="{FF2B5EF4-FFF2-40B4-BE49-F238E27FC236}">
                <a16:creationId xmlns:a16="http://schemas.microsoft.com/office/drawing/2014/main" id="{363EC3A1-2254-539A-EF7A-25DD43B2699E}"/>
              </a:ext>
            </a:extLst>
          </p:cNvPr>
          <p:cNvGrpSpPr/>
          <p:nvPr/>
        </p:nvGrpSpPr>
        <p:grpSpPr>
          <a:xfrm>
            <a:off x="18548266" y="2199003"/>
            <a:ext cx="8436258" cy="1537511"/>
            <a:chOff x="10490199" y="25209499"/>
            <a:chExt cx="6144189" cy="1536799"/>
          </a:xfrm>
        </p:grpSpPr>
        <p:sp>
          <p:nvSpPr>
            <p:cNvPr id="11" name="Rectangle 10">
              <a:extLst>
                <a:ext uri="{FF2B5EF4-FFF2-40B4-BE49-F238E27FC236}">
                  <a16:creationId xmlns:a16="http://schemas.microsoft.com/office/drawing/2014/main" id="{497D858C-F269-AB3B-515E-55CA5B70B362}"/>
                </a:ext>
              </a:extLst>
            </p:cNvPr>
            <p:cNvSpPr/>
            <p:nvPr/>
          </p:nvSpPr>
          <p:spPr>
            <a:xfrm>
              <a:off x="10490199" y="25209499"/>
              <a:ext cx="6144189" cy="1536799"/>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D0984E26-54F0-E7AC-4C3C-7D0D25ADD219}"/>
                </a:ext>
              </a:extLst>
            </p:cNvPr>
            <p:cNvSpPr txBox="1"/>
            <p:nvPr/>
          </p:nvSpPr>
          <p:spPr>
            <a:xfrm>
              <a:off x="10568749" y="25308781"/>
              <a:ext cx="5983203" cy="1322826"/>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Distribution des classes de risque CV selon le mode de vie</a:t>
              </a:r>
            </a:p>
          </p:txBody>
        </p:sp>
      </p:grpSp>
      <p:cxnSp>
        <p:nvCxnSpPr>
          <p:cNvPr id="16" name="Connecteur droit 15">
            <a:extLst>
              <a:ext uri="{FF2B5EF4-FFF2-40B4-BE49-F238E27FC236}">
                <a16:creationId xmlns:a16="http://schemas.microsoft.com/office/drawing/2014/main" id="{46A02683-C238-026C-6A82-60B2014C5699}"/>
              </a:ext>
            </a:extLst>
          </p:cNvPr>
          <p:cNvCxnSpPr>
            <a:cxnSpLocks/>
            <a:stCxn id="6" idx="2"/>
          </p:cNvCxnSpPr>
          <p:nvPr/>
        </p:nvCxnSpPr>
        <p:spPr>
          <a:xfrm flipH="1">
            <a:off x="15120141" y="1734649"/>
            <a:ext cx="2" cy="11422551"/>
          </a:xfrm>
          <a:prstGeom prst="line">
            <a:avLst/>
          </a:prstGeom>
          <a:ln w="82550" cmpd="sng">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D7925E71-3C80-9B0E-DB1D-0388A97D3F03}"/>
              </a:ext>
            </a:extLst>
          </p:cNvPr>
          <p:cNvCxnSpPr>
            <a:cxnSpLocks/>
          </p:cNvCxnSpPr>
          <p:nvPr/>
        </p:nvCxnSpPr>
        <p:spPr>
          <a:xfrm flipV="1">
            <a:off x="1077571" y="1734649"/>
            <a:ext cx="0" cy="11462239"/>
          </a:xfrm>
          <a:prstGeom prst="line">
            <a:avLst/>
          </a:prstGeom>
          <a:ln w="82550" cmpd="sng">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7362BB11-6906-F368-4AB4-B3A0710ACE4A}"/>
              </a:ext>
            </a:extLst>
          </p:cNvPr>
          <p:cNvCxnSpPr>
            <a:cxnSpLocks/>
          </p:cNvCxnSpPr>
          <p:nvPr/>
        </p:nvCxnSpPr>
        <p:spPr>
          <a:xfrm flipV="1">
            <a:off x="29124614" y="1734649"/>
            <a:ext cx="0" cy="11462239"/>
          </a:xfrm>
          <a:prstGeom prst="line">
            <a:avLst/>
          </a:prstGeom>
          <a:ln w="82550" cmpd="sng">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A16144B7-D5CC-E672-14F2-C710A48FD6E9}"/>
              </a:ext>
            </a:extLst>
          </p:cNvPr>
          <p:cNvCxnSpPr>
            <a:cxnSpLocks/>
          </p:cNvCxnSpPr>
          <p:nvPr/>
        </p:nvCxnSpPr>
        <p:spPr>
          <a:xfrm flipH="1">
            <a:off x="1115673" y="13157200"/>
            <a:ext cx="28047038" cy="0"/>
          </a:xfrm>
          <a:prstGeom prst="line">
            <a:avLst/>
          </a:prstGeom>
          <a:ln w="82550" cmpd="sng">
            <a:solidFill>
              <a:schemeClr val="accent5"/>
            </a:solidFill>
            <a:prstDash val="dash"/>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1EB765D0-9FBD-BD63-73FA-C6C9B611F846}"/>
              </a:ext>
            </a:extLst>
          </p:cNvPr>
          <p:cNvPicPr>
            <a:picLocks noChangeAspect="1"/>
          </p:cNvPicPr>
          <p:nvPr/>
        </p:nvPicPr>
        <p:blipFill>
          <a:blip r:embed="rId3"/>
          <a:stretch>
            <a:fillRect/>
          </a:stretch>
        </p:blipFill>
        <p:spPr>
          <a:xfrm>
            <a:off x="12498104" y="2881587"/>
            <a:ext cx="5244073" cy="1369063"/>
          </a:xfrm>
          <a:prstGeom prst="rect">
            <a:avLst/>
          </a:prstGeom>
          <a:ln w="82550">
            <a:solidFill>
              <a:schemeClr val="tx1"/>
            </a:solidFill>
            <a:prstDash val="solid"/>
          </a:ln>
        </p:spPr>
      </p:pic>
      <p:grpSp>
        <p:nvGrpSpPr>
          <p:cNvPr id="57" name="Groupe 56">
            <a:extLst>
              <a:ext uri="{FF2B5EF4-FFF2-40B4-BE49-F238E27FC236}">
                <a16:creationId xmlns:a16="http://schemas.microsoft.com/office/drawing/2014/main" id="{864D3983-513E-4BA3-5B49-CDE57F8A209D}"/>
              </a:ext>
            </a:extLst>
          </p:cNvPr>
          <p:cNvGrpSpPr/>
          <p:nvPr/>
        </p:nvGrpSpPr>
        <p:grpSpPr>
          <a:xfrm>
            <a:off x="1077568" y="15159065"/>
            <a:ext cx="28085143" cy="25680862"/>
            <a:chOff x="1077568" y="13892338"/>
            <a:chExt cx="28085143" cy="25680862"/>
          </a:xfrm>
        </p:grpSpPr>
        <p:sp>
          <p:nvSpPr>
            <p:cNvPr id="82" name="Rectangle 81">
              <a:extLst>
                <a:ext uri="{FF2B5EF4-FFF2-40B4-BE49-F238E27FC236}">
                  <a16:creationId xmlns:a16="http://schemas.microsoft.com/office/drawing/2014/main" id="{498C8976-2190-51EC-9183-28D7E9E2CCD5}"/>
                </a:ext>
              </a:extLst>
            </p:cNvPr>
            <p:cNvSpPr/>
            <p:nvPr/>
          </p:nvSpPr>
          <p:spPr>
            <a:xfrm>
              <a:off x="1096341" y="14680141"/>
              <a:ext cx="28046984" cy="24893059"/>
            </a:xfrm>
            <a:prstGeom prst="rect">
              <a:avLst/>
            </a:prstGeom>
            <a:ln w="38100">
              <a:solidFill>
                <a:schemeClr val="accent5"/>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dirty="0"/>
            </a:p>
          </p:txBody>
        </p:sp>
        <p:sp>
          <p:nvSpPr>
            <p:cNvPr id="52" name="ZoneTexte 51">
              <a:extLst>
                <a:ext uri="{FF2B5EF4-FFF2-40B4-BE49-F238E27FC236}">
                  <a16:creationId xmlns:a16="http://schemas.microsoft.com/office/drawing/2014/main" id="{D9611185-D863-9F24-473E-23A944EDB9F2}"/>
                </a:ext>
              </a:extLst>
            </p:cNvPr>
            <p:cNvSpPr txBox="1"/>
            <p:nvPr/>
          </p:nvSpPr>
          <p:spPr>
            <a:xfrm>
              <a:off x="1077568" y="13892338"/>
              <a:ext cx="28085143" cy="1015663"/>
            </a:xfrm>
            <a:prstGeom prst="rect">
              <a:avLst/>
            </a:prstGeom>
            <a:solidFill>
              <a:srgbClr val="718FC4"/>
            </a:solidFill>
          </p:spPr>
          <p:txBody>
            <a:bodyPr wrap="square" rtlCol="0">
              <a:spAutoFit/>
            </a:bodyPr>
            <a:lstStyle/>
            <a:p>
              <a:pPr algn="ctr"/>
              <a:r>
                <a:rPr lang="fr-FR" sz="6000" b="1" dirty="0">
                  <a:solidFill>
                    <a:schemeClr val="bg1"/>
                  </a:solidFill>
                  <a:latin typeface="Brix Slab Light" panose="02000000000000000000" pitchFamily="50" charset="0"/>
                </a:rPr>
                <a:t>Evaluation de l’association entre les 2 dimensions et l’état de santé </a:t>
              </a:r>
            </a:p>
          </p:txBody>
        </p:sp>
        <p:pic>
          <p:nvPicPr>
            <p:cNvPr id="60" name="Image 59">
              <a:extLst>
                <a:ext uri="{FF2B5EF4-FFF2-40B4-BE49-F238E27FC236}">
                  <a16:creationId xmlns:a16="http://schemas.microsoft.com/office/drawing/2014/main" id="{00CF512E-63BA-CFFD-F1C9-3B51322AC1DB}"/>
                </a:ext>
              </a:extLst>
            </p:cNvPr>
            <p:cNvPicPr>
              <a:picLocks noChangeAspect="1"/>
            </p:cNvPicPr>
            <p:nvPr/>
          </p:nvPicPr>
          <p:blipFill>
            <a:blip r:embed="rId4"/>
            <a:stretch>
              <a:fillRect/>
            </a:stretch>
          </p:blipFill>
          <p:spPr>
            <a:xfrm>
              <a:off x="3361661" y="17107684"/>
              <a:ext cx="23516343" cy="8456489"/>
            </a:xfrm>
            <a:prstGeom prst="rect">
              <a:avLst/>
            </a:prstGeom>
          </p:spPr>
        </p:pic>
        <p:grpSp>
          <p:nvGrpSpPr>
            <p:cNvPr id="61" name="Groupe 60">
              <a:extLst>
                <a:ext uri="{FF2B5EF4-FFF2-40B4-BE49-F238E27FC236}">
                  <a16:creationId xmlns:a16="http://schemas.microsoft.com/office/drawing/2014/main" id="{5472E004-315A-BA51-BE58-4E04FF9FCE18}"/>
                </a:ext>
              </a:extLst>
            </p:cNvPr>
            <p:cNvGrpSpPr/>
            <p:nvPr/>
          </p:nvGrpSpPr>
          <p:grpSpPr>
            <a:xfrm>
              <a:off x="3568439" y="15365106"/>
              <a:ext cx="8929357" cy="1537512"/>
              <a:chOff x="10490199" y="25209500"/>
              <a:chExt cx="5452670" cy="1536800"/>
            </a:xfrm>
          </p:grpSpPr>
          <p:sp>
            <p:nvSpPr>
              <p:cNvPr id="62" name="Rectangle 61">
                <a:extLst>
                  <a:ext uri="{FF2B5EF4-FFF2-40B4-BE49-F238E27FC236}">
                    <a16:creationId xmlns:a16="http://schemas.microsoft.com/office/drawing/2014/main" id="{C12148BA-4962-16BC-8D31-2D858C6BFE62}"/>
                  </a:ext>
                </a:extLst>
              </p:cNvPr>
              <p:cNvSpPr/>
              <p:nvPr/>
            </p:nvSpPr>
            <p:spPr>
              <a:xfrm>
                <a:off x="10490199" y="25209500"/>
                <a:ext cx="5452670" cy="1536800"/>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ZoneTexte 62">
                <a:extLst>
                  <a:ext uri="{FF2B5EF4-FFF2-40B4-BE49-F238E27FC236}">
                    <a16:creationId xmlns:a16="http://schemas.microsoft.com/office/drawing/2014/main" id="{4EA23504-D030-F188-07E2-D11B379C1C27}"/>
                  </a:ext>
                </a:extLst>
              </p:cNvPr>
              <p:cNvSpPr txBox="1"/>
              <p:nvPr/>
            </p:nvSpPr>
            <p:spPr>
              <a:xfrm>
                <a:off x="10568749" y="25308781"/>
                <a:ext cx="5299782" cy="1322826"/>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Distribution des classes de risque CV selon l’état de santé</a:t>
                </a:r>
              </a:p>
            </p:txBody>
          </p:sp>
        </p:grpSp>
        <p:grpSp>
          <p:nvGrpSpPr>
            <p:cNvPr id="64" name="Groupe 63">
              <a:extLst>
                <a:ext uri="{FF2B5EF4-FFF2-40B4-BE49-F238E27FC236}">
                  <a16:creationId xmlns:a16="http://schemas.microsoft.com/office/drawing/2014/main" id="{2B9C7DC2-7211-3E65-D41E-623C446A9365}"/>
                </a:ext>
              </a:extLst>
            </p:cNvPr>
            <p:cNvGrpSpPr/>
            <p:nvPr/>
          </p:nvGrpSpPr>
          <p:grpSpPr>
            <a:xfrm>
              <a:off x="17742492" y="15342312"/>
              <a:ext cx="8929357" cy="1537512"/>
              <a:chOff x="10490199" y="25209500"/>
              <a:chExt cx="5452670" cy="1536800"/>
            </a:xfrm>
          </p:grpSpPr>
          <p:sp>
            <p:nvSpPr>
              <p:cNvPr id="65" name="Rectangle 64">
                <a:extLst>
                  <a:ext uri="{FF2B5EF4-FFF2-40B4-BE49-F238E27FC236}">
                    <a16:creationId xmlns:a16="http://schemas.microsoft.com/office/drawing/2014/main" id="{8FAD6807-3C01-F822-5DE8-FEAF35447807}"/>
                  </a:ext>
                </a:extLst>
              </p:cNvPr>
              <p:cNvSpPr/>
              <p:nvPr/>
            </p:nvSpPr>
            <p:spPr>
              <a:xfrm>
                <a:off x="10490199" y="25209500"/>
                <a:ext cx="5452670" cy="1536800"/>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ZoneTexte 65">
                <a:extLst>
                  <a:ext uri="{FF2B5EF4-FFF2-40B4-BE49-F238E27FC236}">
                    <a16:creationId xmlns:a16="http://schemas.microsoft.com/office/drawing/2014/main" id="{3CF1C159-6949-C783-E654-231AA68646D5}"/>
                  </a:ext>
                </a:extLst>
              </p:cNvPr>
              <p:cNvSpPr txBox="1"/>
              <p:nvPr/>
            </p:nvSpPr>
            <p:spPr>
              <a:xfrm>
                <a:off x="10568749" y="25308781"/>
                <a:ext cx="5299782" cy="1322826"/>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Distribution des classes de mode de vie selon l’état de santé</a:t>
                </a:r>
              </a:p>
            </p:txBody>
          </p:sp>
        </p:grpSp>
        <p:cxnSp>
          <p:nvCxnSpPr>
            <p:cNvPr id="83" name="Connecteur droit 82">
              <a:extLst>
                <a:ext uri="{FF2B5EF4-FFF2-40B4-BE49-F238E27FC236}">
                  <a16:creationId xmlns:a16="http://schemas.microsoft.com/office/drawing/2014/main" id="{0AECD1E9-232C-7E32-7392-A91DD4C27834}"/>
                </a:ext>
              </a:extLst>
            </p:cNvPr>
            <p:cNvCxnSpPr>
              <a:cxnSpLocks/>
              <a:stCxn id="52" idx="2"/>
              <a:endCxn id="82" idx="2"/>
            </p:cNvCxnSpPr>
            <p:nvPr/>
          </p:nvCxnSpPr>
          <p:spPr>
            <a:xfrm flipH="1">
              <a:off x="15119833" y="14908001"/>
              <a:ext cx="307" cy="24665199"/>
            </a:xfrm>
            <a:prstGeom prst="line">
              <a:avLst/>
            </a:prstGeom>
            <a:ln w="38100" cmpd="sng">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87" name="Connecteur droit 86">
              <a:extLst>
                <a:ext uri="{FF2B5EF4-FFF2-40B4-BE49-F238E27FC236}">
                  <a16:creationId xmlns:a16="http://schemas.microsoft.com/office/drawing/2014/main" id="{39B26F48-4B31-FC9F-1487-EB2EAD4C6CB5}"/>
                </a:ext>
              </a:extLst>
            </p:cNvPr>
            <p:cNvCxnSpPr>
              <a:cxnSpLocks/>
            </p:cNvCxnSpPr>
            <p:nvPr/>
          </p:nvCxnSpPr>
          <p:spPr>
            <a:xfrm>
              <a:off x="1096341" y="27672620"/>
              <a:ext cx="28046984" cy="0"/>
            </a:xfrm>
            <a:prstGeom prst="line">
              <a:avLst/>
            </a:prstGeom>
            <a:ln w="38100" cmpd="sng">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91" name="Groupe 90">
              <a:extLst>
                <a:ext uri="{FF2B5EF4-FFF2-40B4-BE49-F238E27FC236}">
                  <a16:creationId xmlns:a16="http://schemas.microsoft.com/office/drawing/2014/main" id="{09F549EA-BB7C-3323-8ECF-A654E7FA2852}"/>
                </a:ext>
              </a:extLst>
            </p:cNvPr>
            <p:cNvGrpSpPr/>
            <p:nvPr/>
          </p:nvGrpSpPr>
          <p:grpSpPr>
            <a:xfrm>
              <a:off x="4730107" y="30102955"/>
              <a:ext cx="7020029" cy="1468504"/>
              <a:chOff x="10490199" y="25209500"/>
              <a:chExt cx="5452670" cy="1536800"/>
            </a:xfrm>
          </p:grpSpPr>
          <p:sp>
            <p:nvSpPr>
              <p:cNvPr id="92" name="Rectangle 91">
                <a:extLst>
                  <a:ext uri="{FF2B5EF4-FFF2-40B4-BE49-F238E27FC236}">
                    <a16:creationId xmlns:a16="http://schemas.microsoft.com/office/drawing/2014/main" id="{0232E2D1-9ECB-FB14-3B39-DF4D021136D1}"/>
                  </a:ext>
                </a:extLst>
              </p:cNvPr>
              <p:cNvSpPr/>
              <p:nvPr/>
            </p:nvSpPr>
            <p:spPr>
              <a:xfrm>
                <a:off x="10490199" y="25209500"/>
                <a:ext cx="5452670" cy="1536800"/>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ZoneTexte 92">
                <a:extLst>
                  <a:ext uri="{FF2B5EF4-FFF2-40B4-BE49-F238E27FC236}">
                    <a16:creationId xmlns:a16="http://schemas.microsoft.com/office/drawing/2014/main" id="{69A7D5A1-44D6-164A-536B-6DC537042472}"/>
                  </a:ext>
                </a:extLst>
              </p:cNvPr>
              <p:cNvSpPr txBox="1"/>
              <p:nvPr/>
            </p:nvSpPr>
            <p:spPr>
              <a:xfrm>
                <a:off x="10568749" y="25308781"/>
                <a:ext cx="5299782" cy="1322826"/>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Score moyen du risque CV </a:t>
                </a:r>
              </a:p>
              <a:p>
                <a:pPr algn="ctr"/>
                <a:r>
                  <a:rPr lang="fr-FR" sz="4000" dirty="0">
                    <a:latin typeface="Brix Slab Light" panose="02000000000000000000" pitchFamily="50" charset="0"/>
                  </a:rPr>
                  <a:t>et état de santé </a:t>
                </a:r>
              </a:p>
            </p:txBody>
          </p:sp>
        </p:grpSp>
        <p:grpSp>
          <p:nvGrpSpPr>
            <p:cNvPr id="2" name="Groupe 1">
              <a:extLst>
                <a:ext uri="{FF2B5EF4-FFF2-40B4-BE49-F238E27FC236}">
                  <a16:creationId xmlns:a16="http://schemas.microsoft.com/office/drawing/2014/main" id="{02EE1F67-7BDF-6DC3-30FC-298532078D05}"/>
                </a:ext>
              </a:extLst>
            </p:cNvPr>
            <p:cNvGrpSpPr/>
            <p:nvPr/>
          </p:nvGrpSpPr>
          <p:grpSpPr>
            <a:xfrm>
              <a:off x="10068860" y="25769239"/>
              <a:ext cx="10101943" cy="3701143"/>
              <a:chOff x="522514" y="2166256"/>
              <a:chExt cx="10101943" cy="3701143"/>
            </a:xfrm>
          </p:grpSpPr>
          <p:sp>
            <p:nvSpPr>
              <p:cNvPr id="3" name="Rectangle 2">
                <a:extLst>
                  <a:ext uri="{FF2B5EF4-FFF2-40B4-BE49-F238E27FC236}">
                    <a16:creationId xmlns:a16="http://schemas.microsoft.com/office/drawing/2014/main" id="{0F510CFE-788A-6D11-0C7A-212B7382B4F4}"/>
                  </a:ext>
                </a:extLst>
              </p:cNvPr>
              <p:cNvSpPr/>
              <p:nvPr/>
            </p:nvSpPr>
            <p:spPr>
              <a:xfrm>
                <a:off x="522514" y="2166256"/>
                <a:ext cx="10101943" cy="3701143"/>
              </a:xfrm>
              <a:prstGeom prst="rect">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13" name="ZoneTexte 12">
                <a:extLst>
                  <a:ext uri="{FF2B5EF4-FFF2-40B4-BE49-F238E27FC236}">
                    <a16:creationId xmlns:a16="http://schemas.microsoft.com/office/drawing/2014/main" id="{FD4D2716-1A01-3F22-8BD5-DFD15D568DE2}"/>
                  </a:ext>
                </a:extLst>
              </p:cNvPr>
              <p:cNvSpPr txBox="1"/>
              <p:nvPr/>
            </p:nvSpPr>
            <p:spPr>
              <a:xfrm>
                <a:off x="903514" y="2915550"/>
                <a:ext cx="5094514" cy="2000548"/>
              </a:xfrm>
              <a:prstGeom prst="rect">
                <a:avLst/>
              </a:prstGeom>
              <a:solidFill>
                <a:schemeClr val="bg1"/>
              </a:solidFill>
              <a:ln w="38100">
                <a:solidFill>
                  <a:srgbClr val="FF0000"/>
                </a:solidFill>
              </a:ln>
            </p:spPr>
            <p:txBody>
              <a:bodyPr wrap="square" rtlCol="0">
                <a:spAutoFit/>
              </a:bodyPr>
              <a:lstStyle/>
              <a:p>
                <a:pPr algn="ctr"/>
                <a:r>
                  <a:rPr lang="fr-FR" sz="4400" b="1" dirty="0">
                    <a:latin typeface="Brix Slab Bold" panose="02000000000000000000" pitchFamily="50" charset="0"/>
                  </a:rPr>
                  <a:t>Rappel</a:t>
                </a:r>
              </a:p>
              <a:p>
                <a:pPr algn="ctr"/>
                <a:r>
                  <a:rPr lang="fr-FR" sz="4000" i="1" dirty="0">
                    <a:latin typeface="Brix Slab Light" panose="02000000000000000000" pitchFamily="50" charset="0"/>
                  </a:rPr>
                  <a:t>Distribution </a:t>
                </a:r>
              </a:p>
              <a:p>
                <a:pPr algn="ctr"/>
                <a:r>
                  <a:rPr lang="fr-FR" sz="4000" i="1" dirty="0">
                    <a:latin typeface="Brix Slab Light" panose="02000000000000000000" pitchFamily="50" charset="0"/>
                  </a:rPr>
                  <a:t>de l’état de santé</a:t>
                </a:r>
              </a:p>
            </p:txBody>
          </p:sp>
        </p:grpSp>
        <p:grpSp>
          <p:nvGrpSpPr>
            <p:cNvPr id="41" name="Groupe 40">
              <a:extLst>
                <a:ext uri="{FF2B5EF4-FFF2-40B4-BE49-F238E27FC236}">
                  <a16:creationId xmlns:a16="http://schemas.microsoft.com/office/drawing/2014/main" id="{90E21C3A-1123-B1B0-5332-A92155BA9185}"/>
                </a:ext>
              </a:extLst>
            </p:cNvPr>
            <p:cNvGrpSpPr/>
            <p:nvPr/>
          </p:nvGrpSpPr>
          <p:grpSpPr>
            <a:xfrm>
              <a:off x="18686192" y="30110325"/>
              <a:ext cx="7041956" cy="1468504"/>
              <a:chOff x="10490199" y="25209500"/>
              <a:chExt cx="5452670" cy="1536800"/>
            </a:xfrm>
          </p:grpSpPr>
          <p:sp>
            <p:nvSpPr>
              <p:cNvPr id="42" name="Rectangle 41">
                <a:extLst>
                  <a:ext uri="{FF2B5EF4-FFF2-40B4-BE49-F238E27FC236}">
                    <a16:creationId xmlns:a16="http://schemas.microsoft.com/office/drawing/2014/main" id="{639AB99F-7277-8114-8B6E-72811B4EA30C}"/>
                  </a:ext>
                </a:extLst>
              </p:cNvPr>
              <p:cNvSpPr/>
              <p:nvPr/>
            </p:nvSpPr>
            <p:spPr>
              <a:xfrm>
                <a:off x="10490199" y="25209500"/>
                <a:ext cx="5452670" cy="1536800"/>
              </a:xfrm>
              <a:prstGeom prst="rect">
                <a:avLst/>
              </a:prstGeom>
              <a:solidFill>
                <a:schemeClr val="bg1"/>
              </a:solidFill>
              <a:ln w="57150">
                <a:solidFill>
                  <a:srgbClr val="EAC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3EFEED02-85AE-8861-08D5-1928B70840A0}"/>
                  </a:ext>
                </a:extLst>
              </p:cNvPr>
              <p:cNvSpPr txBox="1"/>
              <p:nvPr/>
            </p:nvSpPr>
            <p:spPr>
              <a:xfrm>
                <a:off x="10568749" y="25308775"/>
                <a:ext cx="5299782" cy="1322826"/>
              </a:xfrm>
              <a:prstGeom prst="rect">
                <a:avLst/>
              </a:prstGeom>
              <a:solidFill>
                <a:schemeClr val="bg1"/>
              </a:solidFill>
              <a:ln w="28575">
                <a:solidFill>
                  <a:srgbClr val="EAC2C3"/>
                </a:solidFill>
              </a:ln>
            </p:spPr>
            <p:txBody>
              <a:bodyPr wrap="square" rtlCol="0">
                <a:spAutoFit/>
              </a:bodyPr>
              <a:lstStyle/>
              <a:p>
                <a:pPr algn="ctr"/>
                <a:r>
                  <a:rPr lang="fr-FR" sz="4000" dirty="0">
                    <a:latin typeface="Brix Slab Light" panose="02000000000000000000" pitchFamily="50" charset="0"/>
                  </a:rPr>
                  <a:t>Score moyen du mode de vie </a:t>
                </a:r>
              </a:p>
              <a:p>
                <a:pPr algn="ctr"/>
                <a:r>
                  <a:rPr lang="fr-FR" sz="4000" dirty="0">
                    <a:latin typeface="Brix Slab Light" panose="02000000000000000000" pitchFamily="50" charset="0"/>
                  </a:rPr>
                  <a:t>et état de santé</a:t>
                </a:r>
              </a:p>
            </p:txBody>
          </p:sp>
        </p:grpSp>
        <p:pic>
          <p:nvPicPr>
            <p:cNvPr id="49" name="Image 48">
              <a:extLst>
                <a:ext uri="{FF2B5EF4-FFF2-40B4-BE49-F238E27FC236}">
                  <a16:creationId xmlns:a16="http://schemas.microsoft.com/office/drawing/2014/main" id="{4CF493C7-7A67-F6FF-EE24-19F2FC671F36}"/>
                </a:ext>
              </a:extLst>
            </p:cNvPr>
            <p:cNvPicPr>
              <a:picLocks noChangeAspect="1"/>
            </p:cNvPicPr>
            <p:nvPr/>
          </p:nvPicPr>
          <p:blipFill>
            <a:blip r:embed="rId5"/>
            <a:stretch>
              <a:fillRect/>
            </a:stretch>
          </p:blipFill>
          <p:spPr>
            <a:xfrm>
              <a:off x="4466038" y="31914049"/>
              <a:ext cx="7284098" cy="7346893"/>
            </a:xfrm>
            <a:prstGeom prst="rect">
              <a:avLst/>
            </a:prstGeom>
          </p:spPr>
        </p:pic>
        <p:pic>
          <p:nvPicPr>
            <p:cNvPr id="51" name="Image 50">
              <a:extLst>
                <a:ext uri="{FF2B5EF4-FFF2-40B4-BE49-F238E27FC236}">
                  <a16:creationId xmlns:a16="http://schemas.microsoft.com/office/drawing/2014/main" id="{D540EF29-4253-7734-3265-F8408469B9DD}"/>
                </a:ext>
              </a:extLst>
            </p:cNvPr>
            <p:cNvPicPr>
              <a:picLocks noChangeAspect="1"/>
            </p:cNvPicPr>
            <p:nvPr/>
          </p:nvPicPr>
          <p:blipFill>
            <a:blip r:embed="rId6"/>
            <a:stretch>
              <a:fillRect/>
            </a:stretch>
          </p:blipFill>
          <p:spPr>
            <a:xfrm>
              <a:off x="18688691" y="33080812"/>
              <a:ext cx="6976218" cy="6180130"/>
            </a:xfrm>
            <a:prstGeom prst="rect">
              <a:avLst/>
            </a:prstGeom>
          </p:spPr>
        </p:pic>
      </p:grpSp>
      <p:pic>
        <p:nvPicPr>
          <p:cNvPr id="59" name="Image 58">
            <a:extLst>
              <a:ext uri="{FF2B5EF4-FFF2-40B4-BE49-F238E27FC236}">
                <a16:creationId xmlns:a16="http://schemas.microsoft.com/office/drawing/2014/main" id="{3FF7A95A-DCA9-6C5E-5BB2-B88364F7E3D7}"/>
              </a:ext>
            </a:extLst>
          </p:cNvPr>
          <p:cNvPicPr>
            <a:picLocks noChangeAspect="1"/>
          </p:cNvPicPr>
          <p:nvPr/>
        </p:nvPicPr>
        <p:blipFill>
          <a:blip r:embed="rId7"/>
          <a:stretch>
            <a:fillRect/>
          </a:stretch>
        </p:blipFill>
        <p:spPr>
          <a:xfrm>
            <a:off x="15927064" y="27235292"/>
            <a:ext cx="3888123" cy="3408109"/>
          </a:xfrm>
          <a:prstGeom prst="rect">
            <a:avLst/>
          </a:prstGeom>
        </p:spPr>
      </p:pic>
      <p:sp>
        <p:nvSpPr>
          <p:cNvPr id="69" name="ZoneTexte 68">
            <a:extLst>
              <a:ext uri="{FF2B5EF4-FFF2-40B4-BE49-F238E27FC236}">
                <a16:creationId xmlns:a16="http://schemas.microsoft.com/office/drawing/2014/main" id="{419DC7C4-2C2E-17EF-B0C8-EA0E28254263}"/>
              </a:ext>
            </a:extLst>
          </p:cNvPr>
          <p:cNvSpPr txBox="1"/>
          <p:nvPr/>
        </p:nvSpPr>
        <p:spPr>
          <a:xfrm>
            <a:off x="26702910" y="42298462"/>
            <a:ext cx="3022717" cy="369332"/>
          </a:xfrm>
          <a:prstGeom prst="rect">
            <a:avLst/>
          </a:prstGeom>
          <a:noFill/>
        </p:spPr>
        <p:txBody>
          <a:bodyPr wrap="square">
            <a:spAutoFit/>
          </a:bodyPr>
          <a:lstStyle/>
          <a:p>
            <a:pPr algn="ctr"/>
            <a:r>
              <a:rPr lang="fr-FR" sz="1800" i="1" dirty="0">
                <a:latin typeface="Brix Slab Light" panose="02000000000000000000" pitchFamily="50" charset="0"/>
              </a:rPr>
              <a:t>Auteur : Youenn MARTIN	</a:t>
            </a:r>
          </a:p>
        </p:txBody>
      </p:sp>
    </p:spTree>
    <p:extLst>
      <p:ext uri="{BB962C8B-B14F-4D97-AF65-F5344CB8AC3E}">
        <p14:creationId xmlns:p14="http://schemas.microsoft.com/office/powerpoint/2010/main" val="389035996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5614</TotalTime>
  <Words>673</Words>
  <Application>Microsoft Office PowerPoint</Application>
  <PresentationFormat>Personnalisé</PresentationFormat>
  <Paragraphs>90</Paragraphs>
  <Slides>4</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vt:i4>
      </vt:variant>
    </vt:vector>
  </HeadingPairs>
  <TitlesOfParts>
    <vt:vector size="10" baseType="lpstr">
      <vt:lpstr>Arial</vt:lpstr>
      <vt:lpstr>Brix Slab Bold</vt:lpstr>
      <vt:lpstr>Brix Slab Light</vt:lpstr>
      <vt:lpstr>Calibri</vt:lpstr>
      <vt:lpstr>Calibri Light</vt:lpstr>
      <vt:lpstr>Thème Office</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33638782428</dc:creator>
  <cp:lastModifiedBy>33638782428</cp:lastModifiedBy>
  <cp:revision>25</cp:revision>
  <dcterms:created xsi:type="dcterms:W3CDTF">2026-02-27T13:04:15Z</dcterms:created>
  <dcterms:modified xsi:type="dcterms:W3CDTF">2026-04-07T08:20:41Z</dcterms:modified>
</cp:coreProperties>
</file>